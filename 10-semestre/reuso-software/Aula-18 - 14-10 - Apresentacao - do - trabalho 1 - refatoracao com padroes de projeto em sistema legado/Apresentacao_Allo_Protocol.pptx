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D7C04D-C758-4390-86DD-4D734636E98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03DBB90-3034-4932-A80C-70888D3972E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7E98E8D-BAAD-41EF-9DDB-250171FBBB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32C43B3-FAB9-405F-A07A-1BA896B56C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3C8F01B-63E3-42EE-B63C-F40E3BFB88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073AA6A-A3A5-4A78-95FF-E5F545662F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A49C678-9763-41B4-A1AD-04780CAC865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DE754A9-A9BE-4521-8C1C-3BD9DE086BC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5C8F404-EC12-40E9-B1F1-13591FC5421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44D0113-810C-498E-A711-692EB26002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0C9E891-FCF6-4FFF-AE6C-FEC41457F9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1BD5405-C8F5-47E3-BCD8-820544DEA2D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D630B55-18C8-463A-95C4-21895FE1C52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66B4ECC-C80A-48CA-85BB-E711FAEF41D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qu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par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a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edi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tar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for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ma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tex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títu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239E687-88AA-41E8-9C0D-BA4D43EADD4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C954537-733D-4FED-AE8A-D4F057F3DA5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para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editar 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formato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do texto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92DB216-EC48-4484-B1ED-4EE6C1B0F11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68F4D18-E4F8-4B98-959B-19300E8A672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6009645-83F9-4C43-A409-E09397B9394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12DF2F8-FFA6-4CF5-96F7-79C24260A8B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49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9D4921A-FF8F-4A2F-BAA2-6277E925F29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3558817-0832-47E1-967B-DE4AA316AE3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hyperlink" Target="http://github.com/josiasdev/allo-v2" TargetMode="External"/><Relationship Id="rId3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1"/>
          <p:cNvSpPr/>
          <p:nvPr/>
        </p:nvSpPr>
        <p:spPr>
          <a:xfrm>
            <a:off x="0" y="0"/>
            <a:ext cx="9143280" cy="283392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502920" y="822960"/>
            <a:ext cx="8137440" cy="85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000000"/>
                </a:solidFill>
                <a:latin typeface="Roboto"/>
                <a:ea typeface="Roboto"/>
              </a:rPr>
              <a:t>Refatoração com Padrões de Projeto GoF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601"/>
              </a:spcBef>
            </a:pPr>
            <a:r>
              <a:rPr b="0" lang="en-US" sz="1700" spc="-1" strike="noStrike">
                <a:solidFill>
                  <a:srgbClr val="202020"/>
                </a:solidFill>
                <a:latin typeface="Roboto"/>
                <a:ea typeface="Roboto"/>
              </a:rPr>
              <a:t>em Sistema Legado Solidity - Allo Protocol V2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Box 3"/>
          <p:cNvSpPr/>
          <p:nvPr/>
        </p:nvSpPr>
        <p:spPr>
          <a:xfrm>
            <a:off x="3463200" y="2240280"/>
            <a:ext cx="2216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02020"/>
                </a:solidFill>
                <a:latin typeface="Roboto"/>
                <a:ea typeface="Roboto"/>
              </a:rPr>
              <a:t>QXD0068 - Reuso de Software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Box 4"/>
          <p:cNvSpPr/>
          <p:nvPr/>
        </p:nvSpPr>
        <p:spPr>
          <a:xfrm>
            <a:off x="411480" y="3154680"/>
            <a:ext cx="6217200" cy="10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0000"/>
                </a:solidFill>
                <a:latin typeface="Roboto"/>
                <a:ea typeface="Roboto"/>
              </a:rPr>
              <a:t>Universidade Federal do Ceará - Campus Quixadá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b="0" lang="en-US" sz="1200" spc="-1" strike="noStrike">
                <a:solidFill>
                  <a:srgbClr val="202020"/>
                </a:solidFill>
                <a:latin typeface="Roboto"/>
                <a:ea typeface="Roboto"/>
              </a:rPr>
              <a:t>Aluno: Francisco Josias da Silva Batista</a:t>
            </a:r>
            <a:br>
              <a:rPr sz="1200"/>
            </a:br>
            <a:r>
              <a:rPr b="0" lang="en-US" sz="1200" spc="-1" strike="noStrike">
                <a:solidFill>
                  <a:srgbClr val="202020"/>
                </a:solidFill>
                <a:latin typeface="Roboto"/>
                <a:ea typeface="Roboto"/>
              </a:rPr>
              <a:t>Matricula: 542167</a:t>
            </a:r>
            <a:br>
              <a:rPr sz="1200"/>
            </a:br>
            <a:r>
              <a:rPr b="0" lang="en-US" sz="1200" spc="-1" strike="noStrike">
                <a:solidFill>
                  <a:srgbClr val="202020"/>
                </a:solidFill>
                <a:latin typeface="Roboto"/>
                <a:ea typeface="Roboto"/>
              </a:rPr>
              <a:t>Professor: </a:t>
            </a: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Prof. Francisco Victor da Silva Pinheiro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" name="Picture 5" descr="ufc_crest.png"/>
          <p:cNvPicPr/>
          <p:nvPr/>
        </p:nvPicPr>
        <p:blipFill>
          <a:blip r:embed="rId1"/>
          <a:stretch/>
        </p:blipFill>
        <p:spPr>
          <a:xfrm>
            <a:off x="7818120" y="3291840"/>
            <a:ext cx="995760" cy="1279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Picture 1" descr="ufc_logos.png"/>
          <p:cNvPicPr/>
          <p:nvPr/>
        </p:nvPicPr>
        <p:blipFill>
          <a:blip r:embed="rId1"/>
          <a:stretch/>
        </p:blipFill>
        <p:spPr>
          <a:xfrm>
            <a:off x="7818120" y="109800"/>
            <a:ext cx="437400" cy="365040"/>
          </a:xfrm>
          <a:prstGeom prst="rect">
            <a:avLst/>
          </a:prstGeom>
          <a:ln w="0">
            <a:noFill/>
          </a:ln>
        </p:spPr>
      </p:pic>
      <p:sp>
        <p:nvSpPr>
          <p:cNvPr id="56" name="TextBox 2"/>
          <p:cNvSpPr/>
          <p:nvPr/>
        </p:nvSpPr>
        <p:spPr>
          <a:xfrm>
            <a:off x="365760" y="255960"/>
            <a:ext cx="7314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Roboto"/>
                <a:ea typeface="Roboto"/>
              </a:rPr>
              <a:t>Sumário da Apresentação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Rectangle 3"/>
          <p:cNvSpPr/>
          <p:nvPr/>
        </p:nvSpPr>
        <p:spPr>
          <a:xfrm>
            <a:off x="365760" y="4754880"/>
            <a:ext cx="8411760" cy="57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" name="TextBox 4"/>
          <p:cNvSpPr/>
          <p:nvPr/>
        </p:nvSpPr>
        <p:spPr>
          <a:xfrm>
            <a:off x="1615680" y="4809600"/>
            <a:ext cx="39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QXD0068 - Reuso de Software - Francisco Josias da Silva Batista - 2026.2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5"/>
          <p:cNvSpPr/>
          <p:nvPr/>
        </p:nvSpPr>
        <p:spPr>
          <a:xfrm>
            <a:off x="8426880" y="4809600"/>
            <a:ext cx="24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Box 6"/>
          <p:cNvSpPr/>
          <p:nvPr/>
        </p:nvSpPr>
        <p:spPr>
          <a:xfrm>
            <a:off x="502920" y="960120"/>
            <a:ext cx="7771680" cy="23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 </a:t>
            </a: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Sistema e problemas do legado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 </a:t>
            </a: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Os 4 padrões GoF aplicados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 </a:t>
            </a: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Padrão 1: Facade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 </a:t>
            </a: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Padrão 2: Strategy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 </a:t>
            </a: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Padrão 3: Factory Method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 </a:t>
            </a: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Padrão 4: State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 </a:t>
            </a: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Benefícios arquiteturais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 </a:t>
            </a:r>
            <a:r>
              <a:rPr b="0" lang="en-US" sz="1400" spc="-1" strike="noStrike">
                <a:solidFill>
                  <a:srgbClr val="202020"/>
                </a:solidFill>
                <a:latin typeface="Roboto"/>
                <a:ea typeface="Roboto"/>
              </a:rPr>
              <a:t>Resultados e conclusão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1" descr="ufc_logos.png"/>
          <p:cNvPicPr/>
          <p:nvPr/>
        </p:nvPicPr>
        <p:blipFill>
          <a:blip r:embed="rId1"/>
          <a:stretch/>
        </p:blipFill>
        <p:spPr>
          <a:xfrm>
            <a:off x="7818120" y="109800"/>
            <a:ext cx="437400" cy="365040"/>
          </a:xfrm>
          <a:prstGeom prst="rect">
            <a:avLst/>
          </a:prstGeom>
          <a:ln w="0">
            <a:noFill/>
          </a:ln>
        </p:spPr>
      </p:pic>
      <p:sp>
        <p:nvSpPr>
          <p:cNvPr id="62" name="TextBox 2"/>
          <p:cNvSpPr/>
          <p:nvPr/>
        </p:nvSpPr>
        <p:spPr>
          <a:xfrm>
            <a:off x="365760" y="255960"/>
            <a:ext cx="73144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Roboto"/>
                <a:ea typeface="Roboto"/>
              </a:rPr>
              <a:t>1. Sistema e problemas do legado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365760" y="4754880"/>
            <a:ext cx="8411760" cy="57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615680" y="4809600"/>
            <a:ext cx="39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QXD0068 - Reuso de Software - Francisco Josias da Silva Batista - 2026.2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8426880" y="4809600"/>
            <a:ext cx="24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3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365760" y="804600"/>
            <a:ext cx="8320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buClr>
                <a:srgbClr val="202020"/>
              </a:buClr>
              <a:buFont typeface="Arial"/>
              <a:buChar char="•"/>
            </a:pPr>
            <a:r>
              <a:rPr b="0" lang="en-US" sz="1300" spc="-1" strike="noStrike">
                <a:solidFill>
                  <a:srgbClr val="202020"/>
                </a:solidFill>
                <a:latin typeface="Roboto"/>
                <a:ea typeface="Roboto"/>
              </a:rPr>
              <a:t>Allo Protocol V2 - alocação de recursos para DAOs na Ethereum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411480" y="1234440"/>
            <a:ext cx="393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Roboto"/>
                <a:ea typeface="Roboto"/>
              </a:rPr>
              <a:t>Problemas identificados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Rectangle 8"/>
          <p:cNvSpPr/>
          <p:nvPr/>
        </p:nvSpPr>
        <p:spPr>
          <a:xfrm>
            <a:off x="411480" y="1481400"/>
            <a:ext cx="3839760" cy="93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920" bIns="-34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411480" y="1600200"/>
            <a:ext cx="3931200" cy="24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1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God Class:</a:t>
            </a: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 Allo.sol com 830+ linhas e múltiplas responsabilidades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1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Acoplamento alto:</a:t>
            </a: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 negócio misturado com infraestrutura.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1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Taxas hardcoded: </a:t>
            </a: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Fee fixo em percentFee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1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Duplicação: </a:t>
            </a: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validações de estado repetidas em vários métodos.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1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Interface dispersa:</a:t>
            </a: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 Operações comuns exigem várias transações.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Para criar uma campanha são 2 transações (Registry + Allo)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Clonagem EIP-1167 embarcada no contrato principal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4663440" y="1234440"/>
            <a:ext cx="393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Roboto"/>
                <a:ea typeface="Roboto"/>
              </a:rPr>
              <a:t>Arquitetura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Rectangle 11"/>
          <p:cNvSpPr/>
          <p:nvPr/>
        </p:nvSpPr>
        <p:spPr>
          <a:xfrm>
            <a:off x="4663440" y="1481400"/>
            <a:ext cx="3931200" cy="93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920" bIns="-34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Rectangle 12"/>
          <p:cNvSpPr/>
          <p:nvPr/>
        </p:nvSpPr>
        <p:spPr>
          <a:xfrm>
            <a:off x="5028840" y="1600200"/>
            <a:ext cx="3246120" cy="2971080"/>
          </a:xfrm>
          <a:prstGeom prst="rect">
            <a:avLst/>
          </a:prstGeom>
          <a:solidFill>
            <a:srgbClr val="ffffff"/>
          </a:solidFill>
          <a:ln>
            <a:solidFill>
              <a:srgbClr val="c8cb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" name="Picture 13" descr="fig1_arquitetura_allo.png"/>
          <p:cNvPicPr/>
          <p:nvPr/>
        </p:nvPicPr>
        <p:blipFill>
          <a:blip r:embed="rId2"/>
          <a:stretch/>
        </p:blipFill>
        <p:spPr>
          <a:xfrm>
            <a:off x="5092920" y="1664280"/>
            <a:ext cx="3117960" cy="2842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1" descr="ufc_logos.png"/>
          <p:cNvPicPr/>
          <p:nvPr/>
        </p:nvPicPr>
        <p:blipFill>
          <a:blip r:embed="rId1"/>
          <a:stretch/>
        </p:blipFill>
        <p:spPr>
          <a:xfrm>
            <a:off x="7818120" y="109800"/>
            <a:ext cx="437400" cy="365040"/>
          </a:xfrm>
          <a:prstGeom prst="rect">
            <a:avLst/>
          </a:prstGeom>
          <a:ln w="0">
            <a:noFill/>
          </a:ln>
        </p:spPr>
      </p:pic>
      <p:sp>
        <p:nvSpPr>
          <p:cNvPr id="75" name="TextBox 2"/>
          <p:cNvSpPr/>
          <p:nvPr/>
        </p:nvSpPr>
        <p:spPr>
          <a:xfrm>
            <a:off x="365760" y="255960"/>
            <a:ext cx="73144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Roboto"/>
                <a:ea typeface="Roboto"/>
              </a:rPr>
              <a:t>2. Os 4 padrões GoF aplicados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ectangle 3"/>
          <p:cNvSpPr/>
          <p:nvPr/>
        </p:nvSpPr>
        <p:spPr>
          <a:xfrm>
            <a:off x="365760" y="4754880"/>
            <a:ext cx="8411760" cy="57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1615680" y="4809600"/>
            <a:ext cx="39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QXD0068 - Reuso de Software - Francisco Josias da Silva Batista - 2026.2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426880" y="4809600"/>
            <a:ext cx="24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4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6"/>
          <p:cNvSpPr/>
          <p:nvPr/>
        </p:nvSpPr>
        <p:spPr>
          <a:xfrm>
            <a:off x="365760" y="804600"/>
            <a:ext cx="8320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buClr>
                <a:srgbClr val="202020"/>
              </a:buClr>
              <a:buFont typeface="Arial"/>
              <a:buChar char="•"/>
            </a:pPr>
            <a:r>
              <a:rPr b="0" lang="en-US" sz="1300" spc="-1" strike="noStrike">
                <a:solidFill>
                  <a:srgbClr val="202020"/>
                </a:solidFill>
                <a:latin typeface="Roboto"/>
                <a:ea typeface="Roboto"/>
              </a:rPr>
              <a:t>Cada padrão ataca um problema arquitetural específico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32"/>
          <p:cNvSpPr/>
          <p:nvPr/>
        </p:nvSpPr>
        <p:spPr>
          <a:xfrm>
            <a:off x="594360" y="3849480"/>
            <a:ext cx="7954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02020"/>
                </a:solidFill>
                <a:latin typeface="Arial"/>
                <a:ea typeface="Roboto"/>
              </a:rPr>
              <a:t>Princípios aplicados: SOLID, baixo acoplamento, alta coesão e inversão de dependência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" descr=""/>
          <p:cNvPicPr/>
          <p:nvPr/>
        </p:nvPicPr>
        <p:blipFill>
          <a:blip r:embed="rId2"/>
          <a:stretch/>
        </p:blipFill>
        <p:spPr>
          <a:xfrm>
            <a:off x="540000" y="1228680"/>
            <a:ext cx="8324640" cy="2371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1" descr="ufc_logos.png"/>
          <p:cNvPicPr/>
          <p:nvPr/>
        </p:nvPicPr>
        <p:blipFill>
          <a:blip r:embed="rId1"/>
          <a:stretch/>
        </p:blipFill>
        <p:spPr>
          <a:xfrm>
            <a:off x="7818120" y="109800"/>
            <a:ext cx="437400" cy="365040"/>
          </a:xfrm>
          <a:prstGeom prst="rect">
            <a:avLst/>
          </a:prstGeom>
          <a:ln w="0">
            <a:noFill/>
          </a:ln>
        </p:spPr>
      </p:pic>
      <p:sp>
        <p:nvSpPr>
          <p:cNvPr id="83" name="TextBox 2"/>
          <p:cNvSpPr/>
          <p:nvPr/>
        </p:nvSpPr>
        <p:spPr>
          <a:xfrm>
            <a:off x="365760" y="255960"/>
            <a:ext cx="73144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Roboto"/>
                <a:ea typeface="Roboto"/>
              </a:rPr>
              <a:t>3. Padrão 1: Facade - Estrutural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365760" y="4754880"/>
            <a:ext cx="8411760" cy="57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TextBox 4"/>
          <p:cNvSpPr/>
          <p:nvPr/>
        </p:nvSpPr>
        <p:spPr>
          <a:xfrm>
            <a:off x="1615680" y="4809600"/>
            <a:ext cx="39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QXD0068 - Reuso de Software - Francisco Josias da Silva Batista - 2026.2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5"/>
          <p:cNvSpPr/>
          <p:nvPr/>
        </p:nvSpPr>
        <p:spPr>
          <a:xfrm>
            <a:off x="8426880" y="4809600"/>
            <a:ext cx="24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5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6"/>
          <p:cNvSpPr/>
          <p:nvPr/>
        </p:nvSpPr>
        <p:spPr>
          <a:xfrm>
            <a:off x="365760" y="804600"/>
            <a:ext cx="8320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buClr>
                <a:srgbClr val="202020"/>
              </a:buClr>
              <a:buFont typeface="Arial"/>
              <a:buChar char="•"/>
            </a:pPr>
            <a:r>
              <a:rPr b="0" lang="en-US" sz="1300" spc="-1" strike="noStrike">
                <a:solidFill>
                  <a:srgbClr val="202020"/>
                </a:solidFill>
                <a:latin typeface="Roboto"/>
                <a:ea typeface="Roboto"/>
              </a:rPr>
              <a:t>Criação de campanha: de 2 transações para 1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7"/>
          <p:cNvSpPr/>
          <p:nvPr/>
        </p:nvSpPr>
        <p:spPr>
          <a:xfrm>
            <a:off x="411480" y="1188720"/>
            <a:ext cx="3839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52a2a"/>
                </a:solidFill>
                <a:latin typeface="Roboto"/>
                <a:ea typeface="Roboto"/>
              </a:rPr>
              <a:t>Problema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8"/>
          <p:cNvSpPr/>
          <p:nvPr/>
        </p:nvSpPr>
        <p:spPr>
          <a:xfrm>
            <a:off x="411480" y="1444680"/>
            <a:ext cx="383976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Cliente orquestra createProfile + createPool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Precisa conhecer 2 contratos diferentes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2x gas e mais chance de erro de integração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9"/>
          <p:cNvSpPr/>
          <p:nvPr/>
        </p:nvSpPr>
        <p:spPr>
          <a:xfrm>
            <a:off x="4572000" y="1188720"/>
            <a:ext cx="4022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6e4f"/>
                </a:solidFill>
                <a:latin typeface="Roboto"/>
                <a:ea typeface="Roboto"/>
              </a:rPr>
              <a:t>Solução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4572000" y="1444680"/>
            <a:ext cx="402264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AlloStarterFacade encapsula os 2 subsistemas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initializeCampaign() faz tudo em uma tx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Cliente só passa os parâmetros essenciais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" descr=""/>
          <p:cNvPicPr/>
          <p:nvPr/>
        </p:nvPicPr>
        <p:blipFill>
          <a:blip r:embed="rId2"/>
          <a:stretch/>
        </p:blipFill>
        <p:spPr>
          <a:xfrm>
            <a:off x="1656000" y="2232000"/>
            <a:ext cx="5454360" cy="2368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1" descr="ufc_logos.png"/>
          <p:cNvPicPr/>
          <p:nvPr/>
        </p:nvPicPr>
        <p:blipFill>
          <a:blip r:embed="rId1"/>
          <a:stretch/>
        </p:blipFill>
        <p:spPr>
          <a:xfrm>
            <a:off x="7818120" y="109800"/>
            <a:ext cx="437400" cy="365040"/>
          </a:xfrm>
          <a:prstGeom prst="rect">
            <a:avLst/>
          </a:prstGeom>
          <a:ln w="0">
            <a:noFill/>
          </a:ln>
        </p:spPr>
      </p:pic>
      <p:sp>
        <p:nvSpPr>
          <p:cNvPr id="94" name="TextBox 2"/>
          <p:cNvSpPr/>
          <p:nvPr/>
        </p:nvSpPr>
        <p:spPr>
          <a:xfrm>
            <a:off x="365760" y="255960"/>
            <a:ext cx="73144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Roboto"/>
                <a:ea typeface="Roboto"/>
              </a:rPr>
              <a:t>4. Padrão 2: Strategy - Comportamental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Rectangle 3"/>
          <p:cNvSpPr/>
          <p:nvPr/>
        </p:nvSpPr>
        <p:spPr>
          <a:xfrm>
            <a:off x="365760" y="4754880"/>
            <a:ext cx="8411760" cy="57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1615680" y="4809600"/>
            <a:ext cx="39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QXD0068 - Reuso de Software - Francisco Josias da Silva Batista - 2026.2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5"/>
          <p:cNvSpPr/>
          <p:nvPr/>
        </p:nvSpPr>
        <p:spPr>
          <a:xfrm>
            <a:off x="8426880" y="4809600"/>
            <a:ext cx="24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6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6"/>
          <p:cNvSpPr/>
          <p:nvPr/>
        </p:nvSpPr>
        <p:spPr>
          <a:xfrm>
            <a:off x="365760" y="804600"/>
            <a:ext cx="8320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buClr>
                <a:srgbClr val="202020"/>
              </a:buClr>
              <a:buFont typeface="Arial"/>
              <a:buChar char="•"/>
            </a:pPr>
            <a:r>
              <a:rPr b="0" lang="en-US" sz="1300" spc="-1" strike="noStrike">
                <a:solidFill>
                  <a:srgbClr val="202020"/>
                </a:solidFill>
                <a:latin typeface="Roboto"/>
                <a:ea typeface="Roboto"/>
              </a:rPr>
              <a:t>Cálculo de taxas plugável, sem redeploy do Allo.sol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411480" y="1188720"/>
            <a:ext cx="3839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52a2a"/>
                </a:solidFill>
                <a:latin typeface="Roboto"/>
                <a:ea typeface="Roboto"/>
              </a:rPr>
              <a:t>Problema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8"/>
          <p:cNvSpPr/>
          <p:nvPr/>
        </p:nvSpPr>
        <p:spPr>
          <a:xfrm>
            <a:off x="411480" y="1444680"/>
            <a:ext cx="383976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percentFee fixo em 20% dentro de _fundPool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Mudar o modelo econômico exigiria editar o núcleo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Viola o princípio Aberto/Fechado (OCP)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9"/>
          <p:cNvSpPr/>
          <p:nvPr/>
        </p:nvSpPr>
        <p:spPr>
          <a:xfrm>
            <a:off x="4572000" y="1188720"/>
            <a:ext cx="4022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6e4f"/>
                </a:solidFill>
                <a:latin typeface="Roboto"/>
                <a:ea typeface="Roboto"/>
              </a:rPr>
              <a:t>Solução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4572000" y="1444680"/>
            <a:ext cx="402264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Interface IFeeStrategy com calculateFee()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FlatFeeStrategy reproduz o cálculo legado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Troca via updateFeeStrategy() (onlyOwner)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" name="" descr=""/>
          <p:cNvPicPr/>
          <p:nvPr/>
        </p:nvPicPr>
        <p:blipFill>
          <a:blip r:embed="rId2"/>
          <a:stretch/>
        </p:blipFill>
        <p:spPr>
          <a:xfrm>
            <a:off x="749880" y="2259360"/>
            <a:ext cx="7350120" cy="2420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ufc_logos.png"/>
          <p:cNvPicPr/>
          <p:nvPr/>
        </p:nvPicPr>
        <p:blipFill>
          <a:blip r:embed="rId1"/>
          <a:stretch/>
        </p:blipFill>
        <p:spPr>
          <a:xfrm>
            <a:off x="7818120" y="109800"/>
            <a:ext cx="437400" cy="365040"/>
          </a:xfrm>
          <a:prstGeom prst="rect">
            <a:avLst/>
          </a:prstGeom>
          <a:ln w="0">
            <a:noFill/>
          </a:ln>
        </p:spPr>
      </p:pic>
      <p:sp>
        <p:nvSpPr>
          <p:cNvPr id="105" name="TextBox 2"/>
          <p:cNvSpPr/>
          <p:nvPr/>
        </p:nvSpPr>
        <p:spPr>
          <a:xfrm>
            <a:off x="365760" y="255960"/>
            <a:ext cx="73144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Roboto"/>
                <a:ea typeface="Roboto"/>
              </a:rPr>
              <a:t>5. Padrão 3: Factory Method - Criacional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ectangle 3"/>
          <p:cNvSpPr/>
          <p:nvPr/>
        </p:nvSpPr>
        <p:spPr>
          <a:xfrm>
            <a:off x="365760" y="4754880"/>
            <a:ext cx="8411760" cy="57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4"/>
          <p:cNvSpPr/>
          <p:nvPr/>
        </p:nvSpPr>
        <p:spPr>
          <a:xfrm>
            <a:off x="1615680" y="4809600"/>
            <a:ext cx="39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QXD0068 - Reuso de Software - Francisco Josias da Silva Batista - 2026.2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5"/>
          <p:cNvSpPr/>
          <p:nvPr/>
        </p:nvSpPr>
        <p:spPr>
          <a:xfrm>
            <a:off x="8426880" y="4809600"/>
            <a:ext cx="24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7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6"/>
          <p:cNvSpPr/>
          <p:nvPr/>
        </p:nvSpPr>
        <p:spPr>
          <a:xfrm>
            <a:off x="365760" y="804600"/>
            <a:ext cx="8320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buClr>
                <a:srgbClr val="202020"/>
              </a:buClr>
              <a:buFont typeface="Arial"/>
              <a:buChar char="•"/>
            </a:pPr>
            <a:r>
              <a:rPr b="0" lang="en-US" sz="1300" spc="-1" strike="noStrike">
                <a:solidFill>
                  <a:srgbClr val="202020"/>
                </a:solidFill>
                <a:latin typeface="Roboto"/>
                <a:ea typeface="Roboto"/>
              </a:rPr>
              <a:t>Clonagem de estratégias extraída do contrato principal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411480" y="1188720"/>
            <a:ext cx="3839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52a2a"/>
                </a:solidFill>
                <a:latin typeface="Roboto"/>
                <a:ea typeface="Roboto"/>
              </a:rPr>
              <a:t>Problema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411480" y="1444680"/>
            <a:ext cx="383976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Clone.createClone + CREATE2 dentro de Allo.sol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Bytecode do núcleo cresce a cada responsabilidade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Viola a Responsabilidade Única (SRP)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9"/>
          <p:cNvSpPr/>
          <p:nvPr/>
        </p:nvSpPr>
        <p:spPr>
          <a:xfrm>
            <a:off x="4572000" y="1188720"/>
            <a:ext cx="4022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6e4f"/>
                </a:solidFill>
                <a:latin typeface="Roboto"/>
                <a:ea typeface="Roboto"/>
              </a:rPr>
              <a:t>Solução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4572000" y="1444680"/>
            <a:ext cx="402264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IStrategyFactory (produto abstrato)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StrategyFactory guarda o nonce e clona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Allo.sol delega em uma linha via injeção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" descr=""/>
          <p:cNvPicPr/>
          <p:nvPr/>
        </p:nvPicPr>
        <p:blipFill>
          <a:blip r:embed="rId2"/>
          <a:stretch/>
        </p:blipFill>
        <p:spPr>
          <a:xfrm>
            <a:off x="36000" y="2700000"/>
            <a:ext cx="9000000" cy="180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" descr="ufc_logos.png"/>
          <p:cNvPicPr/>
          <p:nvPr/>
        </p:nvPicPr>
        <p:blipFill>
          <a:blip r:embed="rId1"/>
          <a:stretch/>
        </p:blipFill>
        <p:spPr>
          <a:xfrm>
            <a:off x="7818120" y="109800"/>
            <a:ext cx="437400" cy="365040"/>
          </a:xfrm>
          <a:prstGeom prst="rect">
            <a:avLst/>
          </a:prstGeom>
          <a:ln w="0">
            <a:noFill/>
          </a:ln>
        </p:spPr>
      </p:pic>
      <p:sp>
        <p:nvSpPr>
          <p:cNvPr id="116" name="TextBox 2"/>
          <p:cNvSpPr/>
          <p:nvPr/>
        </p:nvSpPr>
        <p:spPr>
          <a:xfrm>
            <a:off x="365760" y="255960"/>
            <a:ext cx="73144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Roboto"/>
                <a:ea typeface="Roboto"/>
              </a:rPr>
              <a:t>6. Padrão 4: State - Comportamental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Rectangle 3"/>
          <p:cNvSpPr/>
          <p:nvPr/>
        </p:nvSpPr>
        <p:spPr>
          <a:xfrm>
            <a:off x="365760" y="4754880"/>
            <a:ext cx="8411760" cy="57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TextBox 4"/>
          <p:cNvSpPr/>
          <p:nvPr/>
        </p:nvSpPr>
        <p:spPr>
          <a:xfrm>
            <a:off x="1615680" y="4809600"/>
            <a:ext cx="39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QXD0068 - Reuso de Software - Francisco Josias da Silva Batista - 2026.2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8426880" y="4809600"/>
            <a:ext cx="24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8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365760" y="804600"/>
            <a:ext cx="8320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buClr>
                <a:srgbClr val="202020"/>
              </a:buClr>
              <a:buFont typeface="Arial"/>
              <a:buChar char="•"/>
            </a:pPr>
            <a:r>
              <a:rPr b="0" lang="en-US" sz="1300" spc="-1" strike="noStrike">
                <a:solidFill>
                  <a:srgbClr val="202020"/>
                </a:solidFill>
                <a:latin typeface="Roboto"/>
                <a:ea typeface="Roboto"/>
              </a:rPr>
              <a:t>Ciclo de vida da pool modelado com objetos de estado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7"/>
          <p:cNvSpPr/>
          <p:nvPr/>
        </p:nvSpPr>
        <p:spPr>
          <a:xfrm>
            <a:off x="411480" y="1188720"/>
            <a:ext cx="3839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52a2a"/>
                </a:solidFill>
                <a:latin typeface="Roboto"/>
                <a:ea typeface="Roboto"/>
              </a:rPr>
              <a:t>Problema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8"/>
          <p:cNvSpPr/>
          <p:nvPr/>
        </p:nvSpPr>
        <p:spPr>
          <a:xfrm>
            <a:off x="411480" y="1444680"/>
            <a:ext cx="383976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Janela de registro checada 2x (revert e boolean)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Cadeias de if temporais repetidas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Adicionar fase nova = copiar as mesmas condições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9"/>
          <p:cNvSpPr/>
          <p:nvPr/>
        </p:nvSpPr>
        <p:spPr>
          <a:xfrm>
            <a:off x="4572000" y="1188720"/>
            <a:ext cx="4022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6e4f"/>
                </a:solidFill>
                <a:latin typeface="Roboto"/>
                <a:ea typeface="Roboto"/>
              </a:rPr>
              <a:t>Solução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4572000" y="1444680"/>
            <a:ext cx="402264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LifecycleState abstrato + enum PoolState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RegistrationOpenState / RegistrationClosedState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_currentState() resolve lazy, sem storage extra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5" name="" descr=""/>
          <p:cNvPicPr/>
          <p:nvPr/>
        </p:nvPicPr>
        <p:blipFill>
          <a:blip r:embed="rId2"/>
          <a:stretch/>
        </p:blipFill>
        <p:spPr>
          <a:xfrm>
            <a:off x="72360" y="2520000"/>
            <a:ext cx="8963640" cy="1692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" descr="ufc_logos.png"/>
          <p:cNvPicPr/>
          <p:nvPr/>
        </p:nvPicPr>
        <p:blipFill>
          <a:blip r:embed="rId1"/>
          <a:stretch/>
        </p:blipFill>
        <p:spPr>
          <a:xfrm>
            <a:off x="7818120" y="109800"/>
            <a:ext cx="437400" cy="365040"/>
          </a:xfrm>
          <a:prstGeom prst="rect">
            <a:avLst/>
          </a:prstGeom>
          <a:ln w="0">
            <a:noFill/>
          </a:ln>
        </p:spPr>
      </p:pic>
      <p:sp>
        <p:nvSpPr>
          <p:cNvPr id="127" name="TextBox 2"/>
          <p:cNvSpPr/>
          <p:nvPr/>
        </p:nvSpPr>
        <p:spPr>
          <a:xfrm>
            <a:off x="365760" y="255960"/>
            <a:ext cx="73144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Roboto"/>
                <a:ea typeface="Roboto"/>
              </a:rPr>
              <a:t>7. Benefícios arquiteturais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ectangle 3"/>
          <p:cNvSpPr/>
          <p:nvPr/>
        </p:nvSpPr>
        <p:spPr>
          <a:xfrm>
            <a:off x="365760" y="4754880"/>
            <a:ext cx="8411760" cy="57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4"/>
          <p:cNvSpPr/>
          <p:nvPr/>
        </p:nvSpPr>
        <p:spPr>
          <a:xfrm>
            <a:off x="1615320" y="4809600"/>
            <a:ext cx="39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QXD0068 - Reuso de Software - Francisco Josias da Silva Batista - 2026.2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5"/>
          <p:cNvSpPr/>
          <p:nvPr/>
        </p:nvSpPr>
        <p:spPr>
          <a:xfrm>
            <a:off x="8426880" y="4809600"/>
            <a:ext cx="244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9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6"/>
          <p:cNvSpPr/>
          <p:nvPr/>
        </p:nvSpPr>
        <p:spPr>
          <a:xfrm>
            <a:off x="365760" y="804600"/>
            <a:ext cx="8320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buClr>
                <a:srgbClr val="202020"/>
              </a:buClr>
              <a:buFont typeface="Arial"/>
              <a:buChar char="•"/>
            </a:pPr>
            <a:r>
              <a:rPr b="0" lang="en-US" sz="1300" spc="-1" strike="noStrike">
                <a:solidFill>
                  <a:srgbClr val="202020"/>
                </a:solidFill>
                <a:latin typeface="Roboto"/>
                <a:ea typeface="Roboto"/>
              </a:rPr>
              <a:t>O que a refatoração destravou para reuso e manutenção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7"/>
          <p:cNvSpPr/>
          <p:nvPr/>
        </p:nvSpPr>
        <p:spPr>
          <a:xfrm>
            <a:off x="411480" y="1234440"/>
            <a:ext cx="2651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Roboto"/>
                <a:ea typeface="Roboto"/>
              </a:rPr>
              <a:t>Reutilização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ectangle 8"/>
          <p:cNvSpPr/>
          <p:nvPr/>
        </p:nvSpPr>
        <p:spPr>
          <a:xfrm>
            <a:off x="411480" y="1481400"/>
            <a:ext cx="2605320" cy="93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920" bIns="-34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9"/>
          <p:cNvSpPr/>
          <p:nvPr/>
        </p:nvSpPr>
        <p:spPr>
          <a:xfrm>
            <a:off x="411480" y="1600200"/>
            <a:ext cx="2651040" cy="86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4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Arial"/>
                <a:ea typeface="Roboto"/>
              </a:rPr>
              <a:t>Factory reutilizável em outros protocolos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Arial"/>
                <a:ea typeface="Roboto"/>
              </a:rPr>
              <a:t>Estratégias de taxas plugáveis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Arial"/>
                <a:ea typeface="Roboto"/>
              </a:rPr>
              <a:t>Estados independentes do negócio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10"/>
          <p:cNvSpPr/>
          <p:nvPr/>
        </p:nvSpPr>
        <p:spPr>
          <a:xfrm>
            <a:off x="3246120" y="1234440"/>
            <a:ext cx="2651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Roboto"/>
                <a:ea typeface="Roboto"/>
              </a:rPr>
              <a:t>Extensibilidade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ectangle 11"/>
          <p:cNvSpPr/>
          <p:nvPr/>
        </p:nvSpPr>
        <p:spPr>
          <a:xfrm>
            <a:off x="3246120" y="1481400"/>
            <a:ext cx="2605320" cy="93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920" bIns="-34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TextBox 12"/>
          <p:cNvSpPr/>
          <p:nvPr/>
        </p:nvSpPr>
        <p:spPr>
          <a:xfrm>
            <a:off x="3246120" y="1600200"/>
            <a:ext cx="2651040" cy="86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4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Arial"/>
                <a:ea typeface="Roboto"/>
              </a:rPr>
              <a:t>TieredFee sem tocar no Allo.sol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Arial"/>
                <a:ea typeface="Roboto"/>
              </a:rPr>
              <a:t>Novos estados sem refatorar métodos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Arial"/>
                <a:ea typeface="Roboto"/>
              </a:rPr>
              <a:t>Novas fábricas: proxy, beacon.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13"/>
          <p:cNvSpPr/>
          <p:nvPr/>
        </p:nvSpPr>
        <p:spPr>
          <a:xfrm>
            <a:off x="6080760" y="1234440"/>
            <a:ext cx="2651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Roboto"/>
                <a:ea typeface="Roboto"/>
              </a:rPr>
              <a:t>Manutenibilidade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14"/>
          <p:cNvSpPr/>
          <p:nvPr/>
        </p:nvSpPr>
        <p:spPr>
          <a:xfrm>
            <a:off x="6080760" y="1481400"/>
            <a:ext cx="2605320" cy="93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920" bIns="-34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TextBox 15"/>
          <p:cNvSpPr/>
          <p:nvPr/>
        </p:nvSpPr>
        <p:spPr>
          <a:xfrm>
            <a:off x="6080760" y="1600200"/>
            <a:ext cx="2651040" cy="86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4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Arial"/>
                <a:ea typeface="Roboto"/>
              </a:rPr>
              <a:t>Menos duplicação de código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Arial"/>
                <a:ea typeface="Roboto"/>
              </a:rPr>
              <a:t>Complexidade ciclomática menor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Arial"/>
                <a:ea typeface="Roboto"/>
              </a:rPr>
              <a:t>Responsabilidades separadas (SRP)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16"/>
          <p:cNvSpPr/>
          <p:nvPr/>
        </p:nvSpPr>
        <p:spPr>
          <a:xfrm>
            <a:off x="411480" y="3520440"/>
            <a:ext cx="8228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Roboto"/>
                <a:ea typeface="Roboto"/>
              </a:rPr>
              <a:t>SOLID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17"/>
          <p:cNvSpPr/>
          <p:nvPr/>
        </p:nvSpPr>
        <p:spPr>
          <a:xfrm>
            <a:off x="411480" y="3767400"/>
            <a:ext cx="8320320" cy="93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920" bIns="-34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TextBox 18"/>
          <p:cNvSpPr/>
          <p:nvPr/>
        </p:nvSpPr>
        <p:spPr>
          <a:xfrm>
            <a:off x="411480" y="3886200"/>
            <a:ext cx="832032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300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Arial"/>
                <a:ea typeface="Roboto"/>
              </a:rPr>
              <a:t>SRP: uma responsabilidade por contrato, OCP: aberto para extensão, fechado para modificação, LSP: estados e estratégias intercambiáveis, ISP: interfaces granulares e específicas, DIP: dependência de interfaces, não de implementações.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Picture 1" descr="ufc_logos.png"/>
          <p:cNvPicPr/>
          <p:nvPr/>
        </p:nvPicPr>
        <p:blipFill>
          <a:blip r:embed="rId1"/>
          <a:stretch/>
        </p:blipFill>
        <p:spPr>
          <a:xfrm>
            <a:off x="7818120" y="109800"/>
            <a:ext cx="437400" cy="365040"/>
          </a:xfrm>
          <a:prstGeom prst="rect">
            <a:avLst/>
          </a:prstGeom>
          <a:ln w="0">
            <a:noFill/>
          </a:ln>
        </p:spPr>
      </p:pic>
      <p:sp>
        <p:nvSpPr>
          <p:cNvPr id="145" name="TextBox 2"/>
          <p:cNvSpPr/>
          <p:nvPr/>
        </p:nvSpPr>
        <p:spPr>
          <a:xfrm>
            <a:off x="365760" y="255960"/>
            <a:ext cx="73144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Roboto"/>
                <a:ea typeface="Roboto"/>
              </a:rPr>
              <a:t>8. Resultados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ectangle 3"/>
          <p:cNvSpPr/>
          <p:nvPr/>
        </p:nvSpPr>
        <p:spPr>
          <a:xfrm>
            <a:off x="365760" y="4754880"/>
            <a:ext cx="8411760" cy="57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TextBox 4"/>
          <p:cNvSpPr/>
          <p:nvPr/>
        </p:nvSpPr>
        <p:spPr>
          <a:xfrm>
            <a:off x="1615680" y="4809600"/>
            <a:ext cx="39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QXD0068 - Reuso de Software - Francisco Josias da Silva Batista - 2026.2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Box 5"/>
          <p:cNvSpPr/>
          <p:nvPr/>
        </p:nvSpPr>
        <p:spPr>
          <a:xfrm>
            <a:off x="8394840" y="4809600"/>
            <a:ext cx="3088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10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6"/>
          <p:cNvSpPr/>
          <p:nvPr/>
        </p:nvSpPr>
        <p:spPr>
          <a:xfrm>
            <a:off x="365760" y="804600"/>
            <a:ext cx="8320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buClr>
                <a:srgbClr val="202020"/>
              </a:buClr>
              <a:buFont typeface="Arial"/>
              <a:buChar char="•"/>
            </a:pPr>
            <a:r>
              <a:rPr b="0" lang="en-US" sz="1300" spc="-1" strike="noStrike">
                <a:solidFill>
                  <a:srgbClr val="202020"/>
                </a:solidFill>
                <a:latin typeface="Roboto"/>
                <a:ea typeface="Roboto"/>
              </a:rPr>
              <a:t>Comparação antes/depois e validação com a suíte de testes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36"/>
          <p:cNvSpPr/>
          <p:nvPr/>
        </p:nvSpPr>
        <p:spPr>
          <a:xfrm>
            <a:off x="411480" y="3429000"/>
            <a:ext cx="3656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1100" spc="-1" strike="noStrike">
                <a:solidFill>
                  <a:srgbClr val="000000"/>
                </a:solidFill>
                <a:latin typeface="Roboto"/>
                <a:ea typeface="Roboto"/>
              </a:rPr>
              <a:t>Validação técnica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37"/>
          <p:cNvSpPr/>
          <p:nvPr/>
        </p:nvSpPr>
        <p:spPr>
          <a:xfrm>
            <a:off x="411480" y="3675960"/>
            <a:ext cx="502848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2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202020"/>
                </a:solidFill>
                <a:latin typeface="Roboto"/>
                <a:ea typeface="Roboto"/>
              </a:rPr>
              <a:t>Suíte completa: 1147 testes (Foundry)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2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202020"/>
                </a:solidFill>
                <a:latin typeface="Roboto"/>
                <a:ea typeface="Roboto"/>
              </a:rPr>
              <a:t>32 testes unitários novos para os padrões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2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202020"/>
                </a:solidFill>
                <a:latin typeface="Roboto"/>
                <a:ea typeface="Roboto"/>
              </a:rPr>
              <a:t>Sem quebra de compatibilidade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201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202020"/>
                </a:solidFill>
                <a:latin typeface="Roboto"/>
                <a:ea typeface="Roboto"/>
              </a:rPr>
              <a:t>1 commit por padrão - refatoração incremental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" name="" descr=""/>
          <p:cNvPicPr/>
          <p:nvPr/>
        </p:nvPicPr>
        <p:blipFill>
          <a:blip r:embed="rId2"/>
          <a:stretch/>
        </p:blipFill>
        <p:spPr>
          <a:xfrm>
            <a:off x="360000" y="1260000"/>
            <a:ext cx="8460000" cy="2042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Picture 1" descr="ufc_logos.png"/>
          <p:cNvPicPr/>
          <p:nvPr/>
        </p:nvPicPr>
        <p:blipFill>
          <a:blip r:embed="rId1"/>
          <a:stretch/>
        </p:blipFill>
        <p:spPr>
          <a:xfrm>
            <a:off x="7818120" y="109800"/>
            <a:ext cx="437400" cy="365040"/>
          </a:xfrm>
          <a:prstGeom prst="rect">
            <a:avLst/>
          </a:prstGeom>
          <a:ln w="0">
            <a:noFill/>
          </a:ln>
        </p:spPr>
      </p:pic>
      <p:sp>
        <p:nvSpPr>
          <p:cNvPr id="154" name="TextBox 2"/>
          <p:cNvSpPr/>
          <p:nvPr/>
        </p:nvSpPr>
        <p:spPr>
          <a:xfrm>
            <a:off x="365760" y="255960"/>
            <a:ext cx="73144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Roboto"/>
                <a:ea typeface="Roboto"/>
              </a:rPr>
              <a:t>Conclusão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3"/>
          <p:cNvSpPr/>
          <p:nvPr/>
        </p:nvSpPr>
        <p:spPr>
          <a:xfrm>
            <a:off x="365760" y="4754880"/>
            <a:ext cx="8411760" cy="57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4"/>
          <p:cNvSpPr/>
          <p:nvPr/>
        </p:nvSpPr>
        <p:spPr>
          <a:xfrm>
            <a:off x="1615680" y="4809600"/>
            <a:ext cx="39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QXD0068 - Reuso de Software - Francisco Josias da Silva Batista - 2026.2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8394840" y="4809600"/>
            <a:ext cx="3088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f6368"/>
                </a:solidFill>
                <a:latin typeface="Roboto"/>
                <a:ea typeface="Roboto"/>
              </a:rPr>
              <a:t>11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365760" y="804600"/>
            <a:ext cx="8320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buClr>
                <a:srgbClr val="202020"/>
              </a:buClr>
              <a:buFont typeface="Arial"/>
              <a:buChar char="•"/>
            </a:pPr>
            <a:r>
              <a:rPr b="0" lang="en-US" sz="1300" spc="-1" strike="noStrike">
                <a:solidFill>
                  <a:srgbClr val="202020"/>
                </a:solidFill>
                <a:latin typeface="Roboto"/>
                <a:ea typeface="Roboto"/>
              </a:rPr>
              <a:t>Padrões GoF funcionam em Solidity desde que se respeitem gas e imutabilidade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7"/>
          <p:cNvSpPr/>
          <p:nvPr/>
        </p:nvSpPr>
        <p:spPr>
          <a:xfrm>
            <a:off x="411480" y="1234440"/>
            <a:ext cx="393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Roboto"/>
                <a:ea typeface="Roboto"/>
              </a:rPr>
              <a:t>O que mudou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Rectangle 8"/>
          <p:cNvSpPr/>
          <p:nvPr/>
        </p:nvSpPr>
        <p:spPr>
          <a:xfrm>
            <a:off x="411480" y="1481400"/>
            <a:ext cx="3885480" cy="93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920" bIns="-34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9"/>
          <p:cNvSpPr/>
          <p:nvPr/>
        </p:nvSpPr>
        <p:spPr>
          <a:xfrm>
            <a:off x="411480" y="1600200"/>
            <a:ext cx="3931200" cy="11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Facade: criação de campanha em 1 transação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Strategy: modelo de taxas plugável (OCP)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Factory: clonagem isolada da fábrica (SRP)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State: ciclo de vida sem duplicação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Núcleo do Allo.sol menor e mais coeso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10"/>
          <p:cNvSpPr/>
          <p:nvPr/>
        </p:nvSpPr>
        <p:spPr>
          <a:xfrm>
            <a:off x="4709160" y="1234440"/>
            <a:ext cx="393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Roboto"/>
                <a:ea typeface="Roboto"/>
              </a:rPr>
              <a:t>Ganhos para reuso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 11"/>
          <p:cNvSpPr/>
          <p:nvPr/>
        </p:nvSpPr>
        <p:spPr>
          <a:xfrm>
            <a:off x="4709160" y="1481400"/>
            <a:ext cx="3931200" cy="9360"/>
          </a:xfrm>
          <a:prstGeom prst="rect">
            <a:avLst/>
          </a:prstGeom>
          <a:solidFill>
            <a:srgbClr val="c8c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920" bIns="-34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4709160" y="1600200"/>
            <a:ext cx="3931200" cy="11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Novas taxas sem redeploy do Allo.sol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Estados reutilizáveis entre estratégias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Factory pronta para proxy/beacon no futuro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Suíte legada verde = rede de segurança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499"/>
              </a:spcAft>
              <a:buClr>
                <a:srgbClr val="202020"/>
              </a:buClr>
              <a:buFont typeface="Arial"/>
              <a:buChar char="•"/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Dificuldades: storage layout e custo de gas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14"/>
          <p:cNvSpPr/>
          <p:nvPr/>
        </p:nvSpPr>
        <p:spPr>
          <a:xfrm>
            <a:off x="594360" y="4123800"/>
            <a:ext cx="7954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202020"/>
                </a:solidFill>
                <a:latin typeface="Roboto"/>
                <a:ea typeface="Roboto"/>
              </a:rPr>
              <a:t>Repositório: </a:t>
            </a:r>
            <a:r>
              <a:rPr b="1" lang="en-US" sz="1000" spc="-1" strike="noStrike">
                <a:solidFill>
                  <a:srgbClr val="202020"/>
                </a:solidFill>
                <a:latin typeface="Roboto"/>
                <a:ea typeface="Roboto"/>
                <a:hlinkClick r:id="rId2"/>
              </a:rPr>
              <a:t>http://github.com/josiasdev/allo-v2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9143280" cy="283392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TextBox 2"/>
          <p:cNvSpPr/>
          <p:nvPr/>
        </p:nvSpPr>
        <p:spPr>
          <a:xfrm>
            <a:off x="502920" y="1051560"/>
            <a:ext cx="81374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000000"/>
                </a:solidFill>
                <a:latin typeface="Roboto"/>
                <a:ea typeface="Roboto"/>
              </a:rPr>
              <a:t>Muito Obrigado!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411480" y="3200400"/>
            <a:ext cx="621720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0000"/>
                </a:solidFill>
                <a:latin typeface="Roboto"/>
                <a:ea typeface="Roboto"/>
              </a:rPr>
              <a:t>Universidade Federal do Ceará - Campus Quixadá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Francisco Josias da Silva Batista – 542167</a:t>
            </a:r>
            <a:br>
              <a:rPr sz="1100"/>
            </a:br>
            <a:r>
              <a:rPr b="0" lang="en-US" sz="1100" spc="-1" strike="noStrike">
                <a:solidFill>
                  <a:srgbClr val="202020"/>
                </a:solidFill>
                <a:latin typeface="Roboto"/>
                <a:ea typeface="Roboto"/>
              </a:rPr>
              <a:t>Repositório: http://github.com/josiasdev/allo-v2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9" name="Picture 4" descr="ufc_crest.png"/>
          <p:cNvPicPr/>
          <p:nvPr/>
        </p:nvPicPr>
        <p:blipFill>
          <a:blip r:embed="rId1"/>
          <a:stretch/>
        </p:blipFill>
        <p:spPr>
          <a:xfrm>
            <a:off x="7818120" y="3291840"/>
            <a:ext cx="995760" cy="1279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2026-10-13T15:58:02Z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