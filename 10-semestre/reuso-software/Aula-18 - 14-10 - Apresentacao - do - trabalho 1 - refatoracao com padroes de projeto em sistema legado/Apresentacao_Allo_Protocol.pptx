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_rels/notesSlide2.xml.rels" ContentType="application/vnd.openxmlformats-package.relationships+xml"/>
  <Override PartName="/ppt/notesSlides/notesSlide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</p:sldMasterIdLst>
  <p:notesMasterIdLst>
    <p:notesMasterId r:id="rId14"/>
  </p:notes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Clique para mover o slide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Clique para editar o formato de notas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&lt;cabeçalho&gt;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dt" idx="1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ftr" idx="1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sldNum" idx="1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329BDB7E-74C0-4CEB-B143-51BF0A93C51F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 type="dt" idx="15"/>
          </p:nvPr>
        </p:nvSpPr>
        <p:spPr>
          <a:xfrm>
            <a:off x="3884760" y="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6" name="PlaceHolder 4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PlaceHolder 5"/>
          <p:cNvSpPr>
            <a:spLocks noGrp="1"/>
          </p:cNvSpPr>
          <p:nvPr>
            <p:ph type="ftr" idx="16"/>
          </p:nvPr>
        </p:nvSpPr>
        <p:spPr>
          <a:xfrm>
            <a:off x="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pt-BR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208" name="PlaceHolder 6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pt-BR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F10F740-28B7-45F9-8E95-619AE2A21F50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1B7F397-F11C-4DF5-AB87-59FFD8881FA4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BF0FF7-C38D-4804-B17E-546895E181CD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Generated (g3f1fdb14172_7_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63CE473D-60A3-46D4-A7D0-D1D5A1501EB9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B7BF887-B308-49BB-932B-20B5CA44332D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20D66A2-7DCE-4963-BB7A-5706C9DABF35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971B1451-3070-44DD-9189-2E9CA75A7094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C237AE8-E49A-472F-89F4-61F948CAE65D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024EDB1-04AA-46DD-BDE3-0FA0BFA07F0A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888DF6AB-FFE1-417A-8998-047A5AE9EE60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E50F50CC-A9D4-4152-9CA0-6944E0A21011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0" lang="pt-BR" sz="5200" spc="-1" strike="noStrike">
                <a:solidFill>
                  <a:srgbClr val="000000"/>
                </a:solidFill>
                <a:latin typeface="Arial"/>
              </a:rPr>
              <a:t>Clique </a:t>
            </a:r>
            <a:r>
              <a:rPr b="0" lang="pt-BR" sz="5200" spc="-1" strike="noStrike">
                <a:solidFill>
                  <a:srgbClr val="000000"/>
                </a:solidFill>
                <a:latin typeface="Arial"/>
              </a:rPr>
              <a:t>para editar </a:t>
            </a:r>
            <a:r>
              <a:rPr b="0" lang="pt-BR" sz="5200" spc="-1" strike="noStrike">
                <a:solidFill>
                  <a:srgbClr val="000000"/>
                </a:solidFill>
                <a:latin typeface="Arial"/>
              </a:rPr>
              <a:t>o formato </a:t>
            </a:r>
            <a:r>
              <a:rPr b="0" lang="pt-BR" sz="5200" spc="-1" strike="noStrike">
                <a:solidFill>
                  <a:srgbClr val="000000"/>
                </a:solidFill>
                <a:latin typeface="Arial"/>
              </a:rPr>
              <a:t>do texto </a:t>
            </a:r>
            <a:r>
              <a:rPr b="0" lang="pt-BR" sz="5200" spc="-1" strike="noStrike">
                <a:solidFill>
                  <a:srgbClr val="000000"/>
                </a:solidFill>
                <a:latin typeface="Arial"/>
              </a:rPr>
              <a:t>do título</a:t>
            </a:r>
            <a:endParaRPr b="0" lang="pt-BR" sz="5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3930009-88BF-4304-8C7E-27E70D692110}" type="slidenum">
              <a:rPr b="0" lang="pt-BR" sz="1000" spc="-1" strike="noStrike">
                <a:solidFill>
                  <a:schemeClr val="dk2"/>
                </a:solidFill>
                <a:latin typeface="Arial"/>
                <a:ea typeface="Arial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311760" y="1106280"/>
            <a:ext cx="8520120" cy="196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98341"/>
          </a:bodyPr>
          <a:p>
            <a:pPr indent="0" algn="ctr">
              <a:lnSpc>
                <a:spcPct val="100000"/>
              </a:lnSpc>
              <a:buNone/>
            </a:pPr>
            <a:r>
              <a:rPr b="0" lang="pt-BR" sz="12000" spc="-1" strike="noStrike">
                <a:solidFill>
                  <a:schemeClr val="dk1"/>
                </a:solidFill>
                <a:latin typeface="Arial"/>
                <a:ea typeface="Arial"/>
              </a:rPr>
              <a:t>x</a:t>
            </a:r>
            <a:r>
              <a:rPr b="0" lang="pt-BR" sz="12000" spc="-1" strike="noStrike">
                <a:solidFill>
                  <a:schemeClr val="dk1"/>
                </a:solidFill>
                <a:latin typeface="Arial"/>
                <a:ea typeface="Arial"/>
              </a:rPr>
              <a:t>x</a:t>
            </a:r>
            <a:r>
              <a:rPr b="0" lang="pt-BR" sz="12000" spc="-1" strike="noStrike">
                <a:solidFill>
                  <a:schemeClr val="dk1"/>
                </a:solidFill>
                <a:latin typeface="Arial"/>
                <a:ea typeface="Arial"/>
              </a:rPr>
              <a:t>%</a:t>
            </a:r>
            <a:endParaRPr b="0" lang="pt-BR" sz="1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20120" cy="130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50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F943B4C-AF95-4430-AF87-261CCBA2066E}" type="slidenum">
              <a:rPr b="0" lang="pt-BR" sz="1000" spc="-1" strike="noStrike">
                <a:solidFill>
                  <a:schemeClr val="dk2"/>
                </a:solidFill>
                <a:latin typeface="Arial"/>
                <a:ea typeface="Arial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93A21DD-46B0-459B-9059-04AE3FCC5E48}" type="slidenum">
              <a:rPr b="0" lang="pt-BR" sz="1000" spc="-1" strike="noStrike">
                <a:solidFill>
                  <a:schemeClr val="dk2"/>
                </a:solidFill>
                <a:latin typeface="Arial"/>
                <a:ea typeface="Arial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Clique para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editar o formato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do texto do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título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Clique para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editar o formato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do texto do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título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87500"/>
          </a:bodyPr>
          <a:p>
            <a:pPr indent="0">
              <a:buNone/>
            </a:pPr>
            <a:r>
              <a:rPr b="0" lang="pt-BR" sz="3600" spc="-1" strike="noStrike">
                <a:solidFill>
                  <a:srgbClr val="000000"/>
                </a:solidFill>
                <a:latin typeface="Arial"/>
              </a:rPr>
              <a:t>Cliqu</a:t>
            </a:r>
            <a:r>
              <a:rPr b="0" lang="pt-BR" sz="36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pt-BR" sz="3600" spc="-1" strike="noStrike">
                <a:solidFill>
                  <a:srgbClr val="000000"/>
                </a:solidFill>
                <a:latin typeface="Arial"/>
              </a:rPr>
              <a:t>para </a:t>
            </a:r>
            <a:r>
              <a:rPr b="0" lang="pt-BR" sz="3600" spc="-1" strike="noStrike">
                <a:solidFill>
                  <a:srgbClr val="000000"/>
                </a:solidFill>
                <a:latin typeface="Arial"/>
              </a:rPr>
              <a:t>editar </a:t>
            </a:r>
            <a:r>
              <a:rPr b="0" lang="pt-BR" sz="3600" spc="-1" strike="noStrike">
                <a:solidFill>
                  <a:srgbClr val="000000"/>
                </a:solidFill>
                <a:latin typeface="Arial"/>
              </a:rPr>
              <a:t>o </a:t>
            </a:r>
            <a:r>
              <a:rPr b="0" lang="pt-BR" sz="3600" spc="-1" strike="noStrike">
                <a:solidFill>
                  <a:srgbClr val="000000"/>
                </a:solidFill>
                <a:latin typeface="Arial"/>
              </a:rPr>
              <a:t>forma</a:t>
            </a:r>
            <a:r>
              <a:rPr b="0" lang="pt-BR" sz="3600" spc="-1" strike="noStrike">
                <a:solidFill>
                  <a:srgbClr val="000000"/>
                </a:solidFill>
                <a:latin typeface="Arial"/>
              </a:rPr>
              <a:t>to do </a:t>
            </a:r>
            <a:r>
              <a:rPr b="0" lang="pt-BR" sz="3600" spc="-1" strike="noStrike">
                <a:solidFill>
                  <a:srgbClr val="000000"/>
                </a:solidFill>
                <a:latin typeface="Arial"/>
              </a:rPr>
              <a:t>texto </a:t>
            </a:r>
            <a:r>
              <a:rPr b="0" lang="pt-BR" sz="3600" spc="-1" strike="noStrike">
                <a:solidFill>
                  <a:srgbClr val="000000"/>
                </a:solidFill>
                <a:latin typeface="Arial"/>
              </a:rPr>
              <a:t>do </a:t>
            </a:r>
            <a:r>
              <a:rPr b="0" lang="pt-BR" sz="3600" spc="-1" strike="noStrike">
                <a:solidFill>
                  <a:srgbClr val="000000"/>
                </a:solidFill>
                <a:latin typeface="Arial"/>
              </a:rPr>
              <a:t>título</a:t>
            </a: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41E332F-ECA7-4D80-8362-C06682DC81D4}" type="slidenum">
              <a:rPr b="0" lang="pt-BR" sz="1000" spc="-1" strike="noStrike">
                <a:solidFill>
                  <a:schemeClr val="dk2"/>
                </a:solidFill>
                <a:latin typeface="Arial"/>
                <a:ea typeface="Arial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Clique 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para 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editar o 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formato 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do texto 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do título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2EBAEDB-3C3F-466F-9B8B-1A5159434842}" type="slidenum">
              <a:rPr b="0" lang="pt-BR" sz="1000" spc="-1" strike="noStrike">
                <a:solidFill>
                  <a:schemeClr val="dk2"/>
                </a:solidFill>
                <a:latin typeface="Arial"/>
                <a:ea typeface="Arial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Clique 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para 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editar o 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formato 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do texto 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do título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F60A303-86B6-412A-B78C-7BD9C94214F3}" type="slidenum">
              <a:rPr b="0" lang="pt-BR" sz="1000" spc="-1" strike="noStrike">
                <a:solidFill>
                  <a:schemeClr val="dk2"/>
                </a:solidFill>
                <a:latin typeface="Arial"/>
                <a:ea typeface="Arial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Clique 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para 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editar o 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formato 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do texto </a:t>
            </a: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do título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44E412D-625E-4F5B-8DF6-C61433EBF0B6}" type="slidenum">
              <a:rPr b="0" lang="pt-BR" sz="1000" spc="-1" strike="noStrike">
                <a:solidFill>
                  <a:schemeClr val="dk2"/>
                </a:solidFill>
                <a:latin typeface="Arial"/>
                <a:ea typeface="Arial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74970"/>
          </a:bodyPr>
          <a:p>
            <a:pPr indent="0">
              <a:buNone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Clique para editar </a:t>
            </a: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o formato do texto </a:t>
            </a: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do título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7640" cy="317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3586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413D819-7B2D-4FBD-825B-C85588EB3D23}" type="slidenum">
              <a:rPr b="0" lang="pt-BR" sz="1000" spc="-1" strike="noStrike">
                <a:solidFill>
                  <a:schemeClr val="dk2"/>
                </a:solidFill>
                <a:latin typeface="Arial"/>
                <a:ea typeface="Arial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7320" cy="409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pt-BR" sz="4800" spc="-1" strike="noStrike">
                <a:solidFill>
                  <a:srgbClr val="000000"/>
                </a:solidFill>
                <a:latin typeface="Arial"/>
              </a:rPr>
              <a:t>Clique </a:t>
            </a:r>
            <a:r>
              <a:rPr b="0" lang="pt-BR" sz="4800" spc="-1" strike="noStrike">
                <a:solidFill>
                  <a:srgbClr val="000000"/>
                </a:solidFill>
                <a:latin typeface="Arial"/>
              </a:rPr>
              <a:t>para </a:t>
            </a:r>
            <a:r>
              <a:rPr b="0" lang="pt-BR" sz="4800" spc="-1" strike="noStrike">
                <a:solidFill>
                  <a:srgbClr val="000000"/>
                </a:solidFill>
                <a:latin typeface="Arial"/>
              </a:rPr>
              <a:t>editar o </a:t>
            </a:r>
            <a:r>
              <a:rPr b="0" lang="pt-BR" sz="4800" spc="-1" strike="noStrike">
                <a:solidFill>
                  <a:srgbClr val="000000"/>
                </a:solidFill>
                <a:latin typeface="Arial"/>
              </a:rPr>
              <a:t>formato </a:t>
            </a:r>
            <a:r>
              <a:rPr b="0" lang="pt-BR" sz="4800" spc="-1" strike="noStrike">
                <a:solidFill>
                  <a:srgbClr val="000000"/>
                </a:solidFill>
                <a:latin typeface="Arial"/>
              </a:rPr>
              <a:t>do texto </a:t>
            </a:r>
            <a:r>
              <a:rPr b="0" lang="pt-BR" sz="4800" spc="-1" strike="noStrike">
                <a:solidFill>
                  <a:srgbClr val="000000"/>
                </a:solidFill>
                <a:latin typeface="Arial"/>
              </a:rPr>
              <a:t>do título</a:t>
            </a:r>
            <a:endParaRPr b="0" lang="pt-BR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7A498E1-6CF0-4CD4-A25A-3D29D780FEB4}" type="slidenum">
              <a:rPr b="0" lang="pt-BR" sz="1000" spc="-1" strike="noStrike">
                <a:solidFill>
                  <a:schemeClr val="dk2"/>
                </a:solidFill>
                <a:latin typeface="Arial"/>
                <a:ea typeface="Arial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6;p9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4960" cy="148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66889"/>
          </a:bodyPr>
          <a:p>
            <a:pPr indent="0">
              <a:buNone/>
            </a:pPr>
            <a:r>
              <a:rPr b="0" lang="pt-BR" sz="4200" spc="-1" strike="noStrike">
                <a:solidFill>
                  <a:srgbClr val="000000"/>
                </a:solidFill>
                <a:latin typeface="Arial"/>
              </a:rPr>
              <a:t>Clique </a:t>
            </a:r>
            <a:r>
              <a:rPr b="0" lang="pt-BR" sz="4200" spc="-1" strike="noStrike">
                <a:solidFill>
                  <a:srgbClr val="000000"/>
                </a:solidFill>
                <a:latin typeface="Arial"/>
              </a:rPr>
              <a:t>para editar </a:t>
            </a:r>
            <a:r>
              <a:rPr b="0" lang="pt-BR" sz="4200" spc="-1" strike="noStrike">
                <a:solidFill>
                  <a:srgbClr val="000000"/>
                </a:solidFill>
                <a:latin typeface="Arial"/>
              </a:rPr>
              <a:t>o formato </a:t>
            </a:r>
            <a:r>
              <a:rPr b="0" lang="pt-BR" sz="4200" spc="-1" strike="noStrike">
                <a:solidFill>
                  <a:srgbClr val="000000"/>
                </a:solidFill>
                <a:latin typeface="Arial"/>
              </a:rPr>
              <a:t>do texto </a:t>
            </a:r>
            <a:r>
              <a:rPr b="0" lang="pt-BR" sz="4200" spc="-1" strike="noStrike">
                <a:solidFill>
                  <a:srgbClr val="000000"/>
                </a:solidFill>
                <a:latin typeface="Arial"/>
              </a:rPr>
              <a:t>do título</a:t>
            </a:r>
            <a:endParaRPr b="0" lang="pt-BR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6520" cy="369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87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373076E-CA0C-4F50-8575-95A14D1B0158}" type="slidenum">
              <a:rPr b="0" lang="pt-BR" sz="1000" spc="-1" strike="noStrike">
                <a:solidFill>
                  <a:schemeClr val="dk2"/>
                </a:solidFill>
                <a:latin typeface="Arial"/>
                <a:ea typeface="Arial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832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AE8E3C6-81D6-44FB-B1F5-5DBFA3216DA9}" type="slidenum">
              <a:rPr b="0" lang="pt-BR" sz="1000" spc="-1" strike="noStrike">
                <a:solidFill>
                  <a:schemeClr val="dk2"/>
                </a:solidFill>
                <a:latin typeface="Arial"/>
                <a:ea typeface="Arial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faixa-cinza"/>
          <p:cNvSpPr/>
          <p:nvPr/>
        </p:nvSpPr>
        <p:spPr>
          <a:xfrm>
            <a:off x="0" y="0"/>
            <a:ext cx="9143640" cy="2633040"/>
          </a:xfrm>
          <a:prstGeom prst="rect">
            <a:avLst/>
          </a:prstGeom>
          <a:solidFill>
            <a:srgbClr val="eeee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47" name="capa-titulo"/>
          <p:cNvSpPr/>
          <p:nvPr/>
        </p:nvSpPr>
        <p:spPr>
          <a:xfrm>
            <a:off x="411480" y="731520"/>
            <a:ext cx="83206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3200" spc="-1" strike="noStrike">
                <a:solidFill>
                  <a:srgbClr val="000000"/>
                </a:solidFill>
                <a:latin typeface="Arial"/>
                <a:ea typeface="Arial"/>
              </a:rPr>
              <a:t>Refatoração com Padrões de Projeto GoF em Sistema Legado Solidity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capa-subtitulo"/>
          <p:cNvSpPr/>
          <p:nvPr/>
        </p:nvSpPr>
        <p:spPr>
          <a:xfrm>
            <a:off x="411480" y="1965960"/>
            <a:ext cx="8320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 algn="ctr"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Arial"/>
              </a:rPr>
              <a:t>Allo Protocol V2 - QXD0068 - Reuso de Software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capa-ufc"/>
          <p:cNvSpPr/>
          <p:nvPr/>
        </p:nvSpPr>
        <p:spPr>
          <a:xfrm>
            <a:off x="411480" y="3200400"/>
            <a:ext cx="6400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</a:pPr>
            <a:r>
              <a:rPr b="1" lang="pt-BR" sz="1600" spc="-1" strike="noStrike">
                <a:solidFill>
                  <a:srgbClr val="000000"/>
                </a:solidFill>
                <a:latin typeface="Arial"/>
                <a:ea typeface="Arial"/>
              </a:rPr>
              <a:t>Universidade Federal do Ceará - </a:t>
            </a:r>
            <a:r>
              <a:rPr b="1" i="1" lang="pt-BR" sz="1600" spc="-1" strike="noStrike">
                <a:solidFill>
                  <a:srgbClr val="000000"/>
                </a:solidFill>
                <a:latin typeface="Arial"/>
                <a:ea typeface="Arial"/>
              </a:rPr>
              <a:t>Campus Quixadá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capa-info"/>
          <p:cNvSpPr/>
          <p:nvPr/>
        </p:nvSpPr>
        <p:spPr>
          <a:xfrm>
            <a:off x="411480" y="3840480"/>
            <a:ext cx="64004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  <a:ea typeface="Arial"/>
              </a:rPr>
              <a:t>Aluno: Francisco Josias da Silva Batista - Matrícula 542167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  <a:ea typeface="Arial"/>
              </a:rPr>
              <a:t>Disciplina: Reuso de Software (2026.2)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  <a:ea typeface="Arial"/>
              </a:rPr>
              <a:t>Prof. Francisco Victor da Silva Pinheiro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1" name="brasao-ufc" descr=""/>
          <p:cNvPicPr/>
          <p:nvPr/>
        </p:nvPicPr>
        <p:blipFill>
          <a:blip r:embed="rId1"/>
          <a:stretch/>
        </p:blipFill>
        <p:spPr>
          <a:xfrm>
            <a:off x="7589520" y="3108960"/>
            <a:ext cx="1279800" cy="872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ooter-band"/>
          <p:cNvSpPr/>
          <p:nvPr/>
        </p:nvSpPr>
        <p:spPr>
          <a:xfrm>
            <a:off x="0" y="4745880"/>
            <a:ext cx="9143640" cy="397440"/>
          </a:xfrm>
          <a:prstGeom prst="rect">
            <a:avLst/>
          </a:prstGeom>
          <a:solidFill>
            <a:srgbClr val="eeee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53" name="Google Shape;68;p15"/>
          <p:cNvSpPr/>
          <p:nvPr/>
        </p:nvSpPr>
        <p:spPr>
          <a:xfrm>
            <a:off x="7498080" y="91440"/>
            <a:ext cx="822600" cy="68904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Google Shape;69;p15"/>
          <p:cNvSpPr/>
          <p:nvPr/>
        </p:nvSpPr>
        <p:spPr>
          <a:xfrm>
            <a:off x="8357760" y="118800"/>
            <a:ext cx="712800" cy="486000"/>
          </a:xfrm>
          <a:prstGeom prst="roundRect">
            <a:avLst>
              <a:gd name="adj" fmla="val 0"/>
            </a:avLst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Google Shape;70;p15"/>
          <p:cNvSpPr/>
          <p:nvPr/>
        </p:nvSpPr>
        <p:spPr>
          <a:xfrm>
            <a:off x="365760" y="411480"/>
            <a:ext cx="69490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3200" spc="-1" strike="noStrike">
                <a:solidFill>
                  <a:srgbClr val="000000"/>
                </a:solidFill>
                <a:latin typeface="Arial"/>
                <a:ea typeface="Arial"/>
              </a:rPr>
              <a:t>Sumário da Apresentação</a:t>
            </a:r>
            <a:endParaRPr b="0" lang="pt-BR" sz="32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56" name="Google Shape;71;p15"/>
          <p:cNvGrpSpPr/>
          <p:nvPr/>
        </p:nvGrpSpPr>
        <p:grpSpPr>
          <a:xfrm>
            <a:off x="848880" y="1191960"/>
            <a:ext cx="7429320" cy="3500280"/>
            <a:chOff x="848880" y="1191960"/>
            <a:chExt cx="7429320" cy="3500280"/>
          </a:xfrm>
        </p:grpSpPr>
        <p:sp>
          <p:nvSpPr>
            <p:cNvPr id="57" name="Google Shape;72;p15"/>
            <p:cNvSpPr/>
            <p:nvPr/>
          </p:nvSpPr>
          <p:spPr>
            <a:xfrm>
              <a:off x="848880" y="1191960"/>
              <a:ext cx="7429320" cy="3500280"/>
            </a:xfrm>
            <a:prstGeom prst="roundRect">
              <a:avLst>
                <a:gd name="adj" fmla="val 3265"/>
              </a:avLst>
            </a:prstGeom>
            <a:solidFill>
              <a:srgbClr val="ffffff"/>
            </a:solidFill>
            <a:ln w="10725">
              <a:solidFill>
                <a:srgbClr val="eeeee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58" name="Google Shape;73;p15"/>
            <p:cNvGrpSpPr/>
            <p:nvPr/>
          </p:nvGrpSpPr>
          <p:grpSpPr>
            <a:xfrm>
              <a:off x="1063080" y="1336680"/>
              <a:ext cx="3143160" cy="357120"/>
              <a:chOff x="1063080" y="1336680"/>
              <a:chExt cx="3143160" cy="357120"/>
            </a:xfrm>
          </p:grpSpPr>
          <p:sp>
            <p:nvSpPr>
              <p:cNvPr id="59" name="Google Shape;74;p15"/>
              <p:cNvSpPr/>
              <p:nvPr/>
            </p:nvSpPr>
            <p:spPr>
              <a:xfrm>
                <a:off x="1063080" y="1400760"/>
                <a:ext cx="321120" cy="228240"/>
              </a:xfrm>
              <a:prstGeom prst="roundRect">
                <a:avLst>
                  <a:gd name="adj" fmla="val 25000"/>
                </a:avLst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60" name="Google Shape;75;p15"/>
              <p:cNvSpPr/>
              <p:nvPr/>
            </p:nvSpPr>
            <p:spPr>
              <a:xfrm>
                <a:off x="1063080" y="1400760"/>
                <a:ext cx="321120" cy="2282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pt-BR" sz="900" spc="-1" strike="noStrike">
                    <a:solidFill>
                      <a:srgbClr val="ffffff"/>
                    </a:solidFill>
                    <a:latin typeface="Arial"/>
                    <a:ea typeface="Arial"/>
                  </a:rPr>
                  <a:t>01</a:t>
                </a:r>
                <a:endParaRPr b="0" lang="pt-BR" sz="9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1" name="Google Shape;76;p15"/>
              <p:cNvSpPr/>
              <p:nvPr/>
            </p:nvSpPr>
            <p:spPr>
              <a:xfrm>
                <a:off x="1491840" y="1336680"/>
                <a:ext cx="2714400" cy="357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pt-BR" sz="10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Sistema e Problemas do Legado</a:t>
                </a:r>
                <a:endParaRPr b="0" lang="pt-BR" sz="10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62" name="Google Shape;77;p15"/>
            <p:cNvGrpSpPr/>
            <p:nvPr/>
          </p:nvGrpSpPr>
          <p:grpSpPr>
            <a:xfrm>
              <a:off x="1063080" y="1943640"/>
              <a:ext cx="3143160" cy="357120"/>
              <a:chOff x="1063080" y="1943640"/>
              <a:chExt cx="3143160" cy="357120"/>
            </a:xfrm>
          </p:grpSpPr>
          <p:sp>
            <p:nvSpPr>
              <p:cNvPr id="63" name="Google Shape;78;p15"/>
              <p:cNvSpPr/>
              <p:nvPr/>
            </p:nvSpPr>
            <p:spPr>
              <a:xfrm>
                <a:off x="1063080" y="2008080"/>
                <a:ext cx="321120" cy="228240"/>
              </a:xfrm>
              <a:prstGeom prst="roundRect">
                <a:avLst>
                  <a:gd name="adj" fmla="val 25000"/>
                </a:avLst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64" name="Google Shape;79;p15"/>
              <p:cNvSpPr/>
              <p:nvPr/>
            </p:nvSpPr>
            <p:spPr>
              <a:xfrm>
                <a:off x="1063080" y="2008080"/>
                <a:ext cx="321120" cy="2282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pt-BR" sz="900" spc="-1" strike="noStrike">
                    <a:solidFill>
                      <a:srgbClr val="ffffff"/>
                    </a:solidFill>
                    <a:latin typeface="Arial"/>
                    <a:ea typeface="Arial"/>
                  </a:rPr>
                  <a:t>02</a:t>
                </a:r>
                <a:endParaRPr b="0" lang="pt-BR" sz="9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5" name="Google Shape;80;p15"/>
              <p:cNvSpPr/>
              <p:nvPr/>
            </p:nvSpPr>
            <p:spPr>
              <a:xfrm>
                <a:off x="1491840" y="1943640"/>
                <a:ext cx="2714400" cy="357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pt-BR" sz="10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Os 4 Padrões GoF Aplicados</a:t>
                </a:r>
                <a:endParaRPr b="0" lang="pt-BR" sz="10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66" name="Google Shape;81;p15"/>
            <p:cNvGrpSpPr/>
            <p:nvPr/>
          </p:nvGrpSpPr>
          <p:grpSpPr>
            <a:xfrm>
              <a:off x="1063080" y="2550960"/>
              <a:ext cx="3143160" cy="357120"/>
              <a:chOff x="1063080" y="2550960"/>
              <a:chExt cx="3143160" cy="357120"/>
            </a:xfrm>
          </p:grpSpPr>
          <p:sp>
            <p:nvSpPr>
              <p:cNvPr id="67" name="Google Shape;82;p15"/>
              <p:cNvSpPr/>
              <p:nvPr/>
            </p:nvSpPr>
            <p:spPr>
              <a:xfrm>
                <a:off x="1063080" y="2615400"/>
                <a:ext cx="321120" cy="228240"/>
              </a:xfrm>
              <a:prstGeom prst="roundRect">
                <a:avLst>
                  <a:gd name="adj" fmla="val 25000"/>
                </a:avLst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68" name="Google Shape;83;p15"/>
              <p:cNvSpPr/>
              <p:nvPr/>
            </p:nvSpPr>
            <p:spPr>
              <a:xfrm>
                <a:off x="1063080" y="2615400"/>
                <a:ext cx="321120" cy="2282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pt-BR" sz="900" spc="-1" strike="noStrike">
                    <a:solidFill>
                      <a:srgbClr val="ffffff"/>
                    </a:solidFill>
                    <a:latin typeface="Arial"/>
                    <a:ea typeface="Arial"/>
                  </a:rPr>
                  <a:t>03</a:t>
                </a:r>
                <a:endParaRPr b="0" lang="pt-BR" sz="9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9" name="Google Shape;84;p15"/>
              <p:cNvSpPr/>
              <p:nvPr/>
            </p:nvSpPr>
            <p:spPr>
              <a:xfrm>
                <a:off x="1491840" y="2550960"/>
                <a:ext cx="2714400" cy="357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pt-BR" sz="10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Padrão 1: Facade</a:t>
                </a:r>
                <a:endParaRPr b="0" lang="pt-BR" sz="10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70" name="Google Shape;85;p15"/>
            <p:cNvGrpSpPr/>
            <p:nvPr/>
          </p:nvGrpSpPr>
          <p:grpSpPr>
            <a:xfrm>
              <a:off x="1063080" y="3158280"/>
              <a:ext cx="3143160" cy="357120"/>
              <a:chOff x="1063080" y="3158280"/>
              <a:chExt cx="3143160" cy="357120"/>
            </a:xfrm>
          </p:grpSpPr>
          <p:sp>
            <p:nvSpPr>
              <p:cNvPr id="71" name="Google Shape;86;p15"/>
              <p:cNvSpPr/>
              <p:nvPr/>
            </p:nvSpPr>
            <p:spPr>
              <a:xfrm>
                <a:off x="1063080" y="3222360"/>
                <a:ext cx="321120" cy="228240"/>
              </a:xfrm>
              <a:prstGeom prst="roundRect">
                <a:avLst>
                  <a:gd name="adj" fmla="val 25000"/>
                </a:avLst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72" name="Google Shape;87;p15"/>
              <p:cNvSpPr/>
              <p:nvPr/>
            </p:nvSpPr>
            <p:spPr>
              <a:xfrm>
                <a:off x="1063080" y="3222360"/>
                <a:ext cx="321120" cy="2282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pt-BR" sz="900" spc="-1" strike="noStrike">
                    <a:solidFill>
                      <a:srgbClr val="ffffff"/>
                    </a:solidFill>
                    <a:latin typeface="Arial"/>
                    <a:ea typeface="Arial"/>
                  </a:rPr>
                  <a:t>04</a:t>
                </a:r>
                <a:endParaRPr b="0" lang="pt-BR" sz="9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3" name="Google Shape;88;p15"/>
              <p:cNvSpPr/>
              <p:nvPr/>
            </p:nvSpPr>
            <p:spPr>
              <a:xfrm>
                <a:off x="1491840" y="3158280"/>
                <a:ext cx="2714400" cy="357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pt-BR" sz="10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Padrão 2: Strategy</a:t>
                </a:r>
                <a:endParaRPr b="0" lang="pt-BR" sz="10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74" name="Google Shape;89;p15"/>
            <p:cNvGrpSpPr/>
            <p:nvPr/>
          </p:nvGrpSpPr>
          <p:grpSpPr>
            <a:xfrm>
              <a:off x="4849560" y="1315800"/>
              <a:ext cx="3142800" cy="357120"/>
              <a:chOff x="4849560" y="1315800"/>
              <a:chExt cx="3142800" cy="357120"/>
            </a:xfrm>
          </p:grpSpPr>
          <p:sp>
            <p:nvSpPr>
              <p:cNvPr id="75" name="Google Shape;90;p15"/>
              <p:cNvSpPr/>
              <p:nvPr/>
            </p:nvSpPr>
            <p:spPr>
              <a:xfrm>
                <a:off x="4849560" y="1400760"/>
                <a:ext cx="321120" cy="228240"/>
              </a:xfrm>
              <a:prstGeom prst="roundRect">
                <a:avLst>
                  <a:gd name="adj" fmla="val 25000"/>
                </a:avLst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76" name="Google Shape;91;p15"/>
              <p:cNvSpPr/>
              <p:nvPr/>
            </p:nvSpPr>
            <p:spPr>
              <a:xfrm>
                <a:off x="4849560" y="1400760"/>
                <a:ext cx="321120" cy="2282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pt-BR" sz="900" spc="-1" strike="noStrike">
                    <a:solidFill>
                      <a:srgbClr val="ffffff"/>
                    </a:solidFill>
                    <a:latin typeface="Arial"/>
                    <a:ea typeface="Arial"/>
                  </a:rPr>
                  <a:t>05</a:t>
                </a:r>
                <a:endParaRPr b="0" lang="pt-BR" sz="9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7" name="Google Shape;92;p15"/>
              <p:cNvSpPr/>
              <p:nvPr/>
            </p:nvSpPr>
            <p:spPr>
              <a:xfrm>
                <a:off x="5277960" y="1315800"/>
                <a:ext cx="2714400" cy="357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pt-BR" sz="10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Padrão 3: Factory Method</a:t>
                </a:r>
                <a:endParaRPr b="0" lang="pt-BR" sz="10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78" name="Google Shape;93;p15"/>
            <p:cNvGrpSpPr/>
            <p:nvPr/>
          </p:nvGrpSpPr>
          <p:grpSpPr>
            <a:xfrm>
              <a:off x="4849560" y="1890360"/>
              <a:ext cx="3193920" cy="357120"/>
              <a:chOff x="4849560" y="1890360"/>
              <a:chExt cx="3193920" cy="357120"/>
            </a:xfrm>
          </p:grpSpPr>
          <p:sp>
            <p:nvSpPr>
              <p:cNvPr id="79" name="Google Shape;94;p15"/>
              <p:cNvSpPr/>
              <p:nvPr/>
            </p:nvSpPr>
            <p:spPr>
              <a:xfrm>
                <a:off x="4849560" y="1996560"/>
                <a:ext cx="321120" cy="228240"/>
              </a:xfrm>
              <a:prstGeom prst="roundRect">
                <a:avLst>
                  <a:gd name="adj" fmla="val 25000"/>
                </a:avLst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80" name="Google Shape;95;p15"/>
              <p:cNvSpPr/>
              <p:nvPr/>
            </p:nvSpPr>
            <p:spPr>
              <a:xfrm>
                <a:off x="4849560" y="2008080"/>
                <a:ext cx="321120" cy="2282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pt-BR" sz="900" spc="-1" strike="noStrike">
                    <a:solidFill>
                      <a:srgbClr val="ffffff"/>
                    </a:solidFill>
                    <a:latin typeface="Arial"/>
                    <a:ea typeface="Arial"/>
                  </a:rPr>
                  <a:t>06</a:t>
                </a:r>
                <a:endParaRPr b="0" lang="pt-BR" sz="9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1" name="Google Shape;96;p15"/>
              <p:cNvSpPr/>
              <p:nvPr/>
            </p:nvSpPr>
            <p:spPr>
              <a:xfrm>
                <a:off x="5329080" y="1890360"/>
                <a:ext cx="2714400" cy="357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pt-BR" sz="10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Padrão 4: State</a:t>
                </a:r>
                <a:endParaRPr b="0" lang="pt-BR" sz="10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82" name="Google Shape;97;p15"/>
            <p:cNvGrpSpPr/>
            <p:nvPr/>
          </p:nvGrpSpPr>
          <p:grpSpPr>
            <a:xfrm>
              <a:off x="4849560" y="2464560"/>
              <a:ext cx="3193920" cy="357120"/>
              <a:chOff x="4849560" y="2464560"/>
              <a:chExt cx="3193920" cy="357120"/>
            </a:xfrm>
          </p:grpSpPr>
          <p:sp>
            <p:nvSpPr>
              <p:cNvPr id="83" name="Google Shape;98;p15"/>
              <p:cNvSpPr/>
              <p:nvPr/>
            </p:nvSpPr>
            <p:spPr>
              <a:xfrm>
                <a:off x="4849560" y="2529000"/>
                <a:ext cx="321120" cy="228240"/>
              </a:xfrm>
              <a:prstGeom prst="roundRect">
                <a:avLst>
                  <a:gd name="adj" fmla="val 25000"/>
                </a:avLst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84" name="Google Shape;99;p15"/>
              <p:cNvSpPr/>
              <p:nvPr/>
            </p:nvSpPr>
            <p:spPr>
              <a:xfrm>
                <a:off x="4849560" y="2529000"/>
                <a:ext cx="321120" cy="2282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pt-BR" sz="900" spc="-1" strike="noStrike">
                    <a:solidFill>
                      <a:srgbClr val="ffffff"/>
                    </a:solidFill>
                    <a:latin typeface="Arial"/>
                    <a:ea typeface="Arial"/>
                  </a:rPr>
                  <a:t>07</a:t>
                </a:r>
                <a:endParaRPr b="0" lang="pt-BR" sz="9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5" name="Google Shape;100;p15"/>
              <p:cNvSpPr/>
              <p:nvPr/>
            </p:nvSpPr>
            <p:spPr>
              <a:xfrm>
                <a:off x="5329080" y="2464560"/>
                <a:ext cx="2714400" cy="357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pt-BR" sz="10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Benefícios Arquiteturais</a:t>
                </a:r>
                <a:endParaRPr b="0" lang="pt-BR" sz="10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86" name="Google Shape;101;p15"/>
            <p:cNvGrpSpPr/>
            <p:nvPr/>
          </p:nvGrpSpPr>
          <p:grpSpPr>
            <a:xfrm>
              <a:off x="4849560" y="3158280"/>
              <a:ext cx="3193920" cy="357120"/>
              <a:chOff x="4849560" y="3158280"/>
              <a:chExt cx="3193920" cy="357120"/>
            </a:xfrm>
          </p:grpSpPr>
          <p:sp>
            <p:nvSpPr>
              <p:cNvPr id="87" name="Google Shape;102;p15"/>
              <p:cNvSpPr/>
              <p:nvPr/>
            </p:nvSpPr>
            <p:spPr>
              <a:xfrm>
                <a:off x="4849560" y="3222360"/>
                <a:ext cx="321120" cy="228240"/>
              </a:xfrm>
              <a:prstGeom prst="roundRect">
                <a:avLst>
                  <a:gd name="adj" fmla="val 25000"/>
                </a:avLst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88" name="Google Shape;103;p15"/>
              <p:cNvSpPr/>
              <p:nvPr/>
            </p:nvSpPr>
            <p:spPr>
              <a:xfrm>
                <a:off x="4849560" y="3222360"/>
                <a:ext cx="321120" cy="2282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pt-BR" sz="900" spc="-1" strike="noStrike">
                    <a:solidFill>
                      <a:srgbClr val="ffffff"/>
                    </a:solidFill>
                    <a:latin typeface="Arial"/>
                    <a:ea typeface="Arial"/>
                  </a:rPr>
                  <a:t>08</a:t>
                </a:r>
                <a:endParaRPr b="0" lang="pt-BR" sz="9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9" name="Google Shape;104;p15"/>
              <p:cNvSpPr/>
              <p:nvPr/>
            </p:nvSpPr>
            <p:spPr>
              <a:xfrm>
                <a:off x="5329080" y="3158280"/>
                <a:ext cx="2714400" cy="357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pt-BR" sz="10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Resultados e Conclusão</a:t>
                </a:r>
                <a:endParaRPr b="0" lang="pt-BR" sz="10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90" name="footer-text921"/>
          <p:cNvSpPr/>
          <p:nvPr/>
        </p:nvSpPr>
        <p:spPr>
          <a:xfrm>
            <a:off x="137160" y="4809600"/>
            <a:ext cx="6949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Arial"/>
              </a:rPr>
              <a:t>QXD0068 - Reuso de Software - Francisco Josias da Silva Batista - 2026.2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footer-text922"/>
          <p:cNvSpPr/>
          <p:nvPr/>
        </p:nvSpPr>
        <p:spPr>
          <a:xfrm>
            <a:off x="7772400" y="4809600"/>
            <a:ext cx="1234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ct val="100000"/>
              </a:lnSpc>
            </a:pP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Arial"/>
              </a:rPr>
              <a:t>2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footer-band"/>
          <p:cNvSpPr/>
          <p:nvPr/>
        </p:nvSpPr>
        <p:spPr>
          <a:xfrm>
            <a:off x="0" y="4745880"/>
            <a:ext cx="9143640" cy="397440"/>
          </a:xfrm>
          <a:prstGeom prst="rect">
            <a:avLst/>
          </a:prstGeom>
          <a:solidFill>
            <a:srgbClr val="eeee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93" name="Google Shape;109;p16"/>
          <p:cNvSpPr/>
          <p:nvPr/>
        </p:nvSpPr>
        <p:spPr>
          <a:xfrm>
            <a:off x="365760" y="411480"/>
            <a:ext cx="6949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3200" spc="-1" strike="noStrike">
                <a:solidFill>
                  <a:srgbClr val="000000"/>
                </a:solidFill>
                <a:latin typeface="Arial"/>
                <a:ea typeface="Arial"/>
              </a:rPr>
              <a:t>Sistema e Problemas do Legado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Google Shape;110;p16"/>
          <p:cNvSpPr/>
          <p:nvPr/>
        </p:nvSpPr>
        <p:spPr>
          <a:xfrm>
            <a:off x="228240" y="1049040"/>
            <a:ext cx="3382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2200" spc="-1" strike="noStrike">
                <a:solidFill>
                  <a:srgbClr val="000000"/>
                </a:solidFill>
                <a:latin typeface="Arial"/>
                <a:ea typeface="Arial"/>
              </a:rPr>
              <a:t>Contexto Técnico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Google Shape;111;p16"/>
          <p:cNvSpPr/>
          <p:nvPr/>
        </p:nvSpPr>
        <p:spPr>
          <a:xfrm>
            <a:off x="153360" y="1495440"/>
            <a:ext cx="338292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34308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Arial"/>
              </a:rPr>
              <a:t>Allo Protocol V2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Arial"/>
              </a:rPr>
              <a:t>: alocação de recursos para DAOs na Ethereum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Arial"/>
              </a:rPr>
              <a:t>Stack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Arial"/>
              </a:rPr>
              <a:t>: Solidity 0.8.19, Foundry, Gitcoin Grants Stack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Arial"/>
              </a:rPr>
              <a:t>Arquitetura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Arial"/>
              </a:rPr>
              <a:t>: contratos modulares com padrão de estratégias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Google Shape;112;p16"/>
          <p:cNvSpPr/>
          <p:nvPr/>
        </p:nvSpPr>
        <p:spPr>
          <a:xfrm>
            <a:off x="4119120" y="1049040"/>
            <a:ext cx="4754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2200" spc="-1" strike="noStrike">
                <a:solidFill>
                  <a:srgbClr val="000000"/>
                </a:solidFill>
                <a:latin typeface="Arial"/>
                <a:ea typeface="Arial"/>
              </a:rPr>
              <a:t>Problemas do Legado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Google Shape;113;p16"/>
          <p:cNvSpPr/>
          <p:nvPr/>
        </p:nvSpPr>
        <p:spPr>
          <a:xfrm>
            <a:off x="3902760" y="1320840"/>
            <a:ext cx="475452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34308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Arial"/>
              </a:rPr>
              <a:t>God Class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Arial"/>
              </a:rPr>
              <a:t>: Allo.sol com 830+ linhas e múltiplas responsabilidades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Arial"/>
              </a:rPr>
              <a:t>Acoplamento alto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Arial"/>
              </a:rPr>
              <a:t>: negócio misturado com infraestrutura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Arial"/>
              </a:rPr>
              <a:t>Taxas hardcoded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Arial"/>
              </a:rPr>
              <a:t>: fee fixo em percentFee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Arial"/>
              </a:rPr>
              <a:t>Duplicação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Arial"/>
              </a:rPr>
              <a:t>: validações de estado repetidas em vários métodos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Arial"/>
              </a:rPr>
              <a:t>Interface dispersa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Arial"/>
              </a:rPr>
              <a:t>: operações comuns exigem várias transações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8" name="Google Shape;114;p16" descr="https://www.quixada.ufc.br/wp-content/Arquivos_Site/Brasao%20Vertical%20UFC%20Policromatico.png"/>
          <p:cNvPicPr/>
          <p:nvPr/>
        </p:nvPicPr>
        <p:blipFill>
          <a:blip r:embed="rId1"/>
          <a:stretch/>
        </p:blipFill>
        <p:spPr>
          <a:xfrm>
            <a:off x="8357760" y="118800"/>
            <a:ext cx="712800" cy="486000"/>
          </a:xfrm>
          <a:prstGeom prst="rect">
            <a:avLst/>
          </a:prstGeom>
          <a:ln w="0">
            <a:noFill/>
          </a:ln>
        </p:spPr>
      </p:pic>
      <p:pic>
        <p:nvPicPr>
          <p:cNvPr id="99" name="Google Shape;115;p16" descr="https://www.quixada.ufc.br/wp-content/Arquivos_Site/Logo%20Vertical%20UFC%20Quixada%20Policromatico.png"/>
          <p:cNvPicPr/>
          <p:nvPr/>
        </p:nvPicPr>
        <p:blipFill>
          <a:blip r:embed="rId2"/>
          <a:stretch/>
        </p:blipFill>
        <p:spPr>
          <a:xfrm>
            <a:off x="7498080" y="91440"/>
            <a:ext cx="822600" cy="689040"/>
          </a:xfrm>
          <a:prstGeom prst="rect">
            <a:avLst/>
          </a:prstGeom>
          <a:ln w="0">
            <a:noFill/>
          </a:ln>
        </p:spPr>
      </p:pic>
      <p:sp>
        <p:nvSpPr>
          <p:cNvPr id="100" name="footer-text931"/>
          <p:cNvSpPr/>
          <p:nvPr/>
        </p:nvSpPr>
        <p:spPr>
          <a:xfrm>
            <a:off x="137160" y="4809600"/>
            <a:ext cx="6949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Arial"/>
              </a:rPr>
              <a:t>QXD0068 - Reuso de Software - Francisco Josias da Silva Batista - 2026.2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footer-text932"/>
          <p:cNvSpPr/>
          <p:nvPr/>
        </p:nvSpPr>
        <p:spPr>
          <a:xfrm>
            <a:off x="7772400" y="4809600"/>
            <a:ext cx="1234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ct val="100000"/>
              </a:lnSpc>
            </a:pP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Arial"/>
              </a:rPr>
              <a:t>3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footer-band"/>
          <p:cNvSpPr/>
          <p:nvPr/>
        </p:nvSpPr>
        <p:spPr>
          <a:xfrm>
            <a:off x="0" y="4745880"/>
            <a:ext cx="9143640" cy="397440"/>
          </a:xfrm>
          <a:prstGeom prst="rect">
            <a:avLst/>
          </a:prstGeom>
          <a:solidFill>
            <a:srgbClr val="eeee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03" name="Google Shape;120;p17"/>
          <p:cNvSpPr/>
          <p:nvPr/>
        </p:nvSpPr>
        <p:spPr>
          <a:xfrm>
            <a:off x="365760" y="411480"/>
            <a:ext cx="6949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3300" spc="-1" strike="noStrike">
                <a:solidFill>
                  <a:srgbClr val="000000"/>
                </a:solidFill>
                <a:latin typeface="Arial"/>
                <a:ea typeface="Arial"/>
              </a:rPr>
              <a:t>Os 4 Padrões GoF Aplicados</a:t>
            </a:r>
            <a:endParaRPr b="0" lang="pt-BR" sz="33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04" name="Google Shape;121;p17"/>
          <p:cNvGraphicFramePr/>
          <p:nvPr/>
        </p:nvGraphicFramePr>
        <p:xfrm>
          <a:off x="411480" y="1068120"/>
          <a:ext cx="8320680" cy="2724480"/>
        </p:xfrm>
        <a:graphic>
          <a:graphicData uri="http://schemas.openxmlformats.org/drawingml/2006/table">
            <a:tbl>
              <a:tblPr/>
              <a:tblGrid>
                <a:gridCol w="1462680"/>
                <a:gridCol w="1554120"/>
                <a:gridCol w="2743200"/>
                <a:gridCol w="2559960"/>
              </a:tblGrid>
              <a:tr h="39600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Padrão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Categoria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Problema Resolvido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Contrato Principal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39600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Facade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999999"/>
                      </a:solidFill>
                      <a:prstDash val="solid"/>
                    </a:lnL>
                    <a:lnR w="12240">
                      <a:solidFill>
                        <a:srgbClr val="999999"/>
                      </a:solidFill>
                      <a:prstDash val="solid"/>
                    </a:lnR>
                    <a:lnT w="12240">
                      <a:solidFill>
                        <a:srgbClr val="999999"/>
                      </a:solidFill>
                      <a:prstDash val="solid"/>
                    </a:lnT>
                    <a:lnB w="12240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Estrutural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999999"/>
                      </a:solidFill>
                      <a:prstDash val="solid"/>
                    </a:lnL>
                    <a:lnR w="12240">
                      <a:solidFill>
                        <a:srgbClr val="999999"/>
                      </a:solidFill>
                      <a:prstDash val="solid"/>
                    </a:lnR>
                    <a:lnT w="12240">
                      <a:solidFill>
                        <a:srgbClr val="999999"/>
                      </a:solidFill>
                      <a:prstDash val="solid"/>
                    </a:lnT>
                    <a:lnB w="12240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Interface dispersa para criar pools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999999"/>
                      </a:solidFill>
                      <a:prstDash val="solid"/>
                    </a:lnL>
                    <a:lnR w="12240">
                      <a:solidFill>
                        <a:srgbClr val="999999"/>
                      </a:solidFill>
                      <a:prstDash val="solid"/>
                    </a:lnR>
                    <a:lnT w="12240">
                      <a:solidFill>
                        <a:srgbClr val="999999"/>
                      </a:solidFill>
                      <a:prstDash val="solid"/>
                    </a:lnT>
                    <a:lnB w="12240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AlloStarterFacade.sol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999999"/>
                      </a:solidFill>
                      <a:prstDash val="solid"/>
                    </a:lnL>
                    <a:lnR w="12240">
                      <a:solidFill>
                        <a:srgbClr val="999999"/>
                      </a:solidFill>
                      <a:prstDash val="solid"/>
                    </a:lnR>
                    <a:lnT w="12240">
                      <a:solidFill>
                        <a:srgbClr val="999999"/>
                      </a:solidFill>
                      <a:prstDash val="solid"/>
                    </a:lnT>
                    <a:lnB w="12240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Strategy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999999"/>
                      </a:solidFill>
                      <a:prstDash val="solid"/>
                    </a:lnL>
                    <a:lnR w="12240">
                      <a:solidFill>
                        <a:srgbClr val="999999"/>
                      </a:solidFill>
                      <a:prstDash val="solid"/>
                    </a:lnR>
                    <a:lnT w="12240">
                      <a:solidFill>
                        <a:srgbClr val="999999"/>
                      </a:solidFill>
                      <a:prstDash val="solid"/>
                    </a:lnT>
                    <a:lnB w="12240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Comportamental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999999"/>
                      </a:solidFill>
                      <a:prstDash val="solid"/>
                    </a:lnL>
                    <a:lnR w="12240">
                      <a:solidFill>
                        <a:srgbClr val="999999"/>
                      </a:solidFill>
                      <a:prstDash val="solid"/>
                    </a:lnR>
                    <a:lnT w="12240">
                      <a:solidFill>
                        <a:srgbClr val="999999"/>
                      </a:solidFill>
                      <a:prstDash val="solid"/>
                    </a:lnT>
                    <a:lnB w="12240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Taxas hardcoded no núcleo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999999"/>
                      </a:solidFill>
                      <a:prstDash val="solid"/>
                    </a:lnL>
                    <a:lnR w="12240">
                      <a:solidFill>
                        <a:srgbClr val="999999"/>
                      </a:solidFill>
                      <a:prstDash val="solid"/>
                    </a:lnR>
                    <a:lnT w="12240">
                      <a:solidFill>
                        <a:srgbClr val="999999"/>
                      </a:solidFill>
                      <a:prstDash val="solid"/>
                    </a:lnT>
                    <a:lnB w="12240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FlatFeeStrategy.sol + IFeeStrategy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999999"/>
                      </a:solidFill>
                      <a:prstDash val="solid"/>
                    </a:lnL>
                    <a:lnR w="12240">
                      <a:solidFill>
                        <a:srgbClr val="999999"/>
                      </a:solidFill>
                      <a:prstDash val="solid"/>
                    </a:lnR>
                    <a:lnT w="12240">
                      <a:solidFill>
                        <a:srgbClr val="999999"/>
                      </a:solidFill>
                      <a:prstDash val="solid"/>
                    </a:lnT>
                    <a:lnB w="12240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Factory Method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999999"/>
                      </a:solidFill>
                      <a:prstDash val="solid"/>
                    </a:lnL>
                    <a:lnR w="12240">
                      <a:solidFill>
                        <a:srgbClr val="999999"/>
                      </a:solidFill>
                      <a:prstDash val="solid"/>
                    </a:lnR>
                    <a:lnT w="12240">
                      <a:solidFill>
                        <a:srgbClr val="999999"/>
                      </a:solidFill>
                      <a:prstDash val="solid"/>
                    </a:lnT>
                    <a:lnB w="12240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Criacional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999999"/>
                      </a:solidFill>
                      <a:prstDash val="solid"/>
                    </a:lnL>
                    <a:lnR w="12240">
                      <a:solidFill>
                        <a:srgbClr val="999999"/>
                      </a:solidFill>
                      <a:prstDash val="solid"/>
                    </a:lnR>
                    <a:lnT w="12240">
                      <a:solidFill>
                        <a:srgbClr val="999999"/>
                      </a:solidFill>
                      <a:prstDash val="solid"/>
                    </a:lnT>
                    <a:lnB w="12240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Clonagem acoplada ao Allo.sol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999999"/>
                      </a:solidFill>
                      <a:prstDash val="solid"/>
                    </a:lnL>
                    <a:lnR w="12240">
                      <a:solidFill>
                        <a:srgbClr val="999999"/>
                      </a:solidFill>
                      <a:prstDash val="solid"/>
                    </a:lnR>
                    <a:lnT w="12240">
                      <a:solidFill>
                        <a:srgbClr val="999999"/>
                      </a:solidFill>
                      <a:prstDash val="solid"/>
                    </a:lnT>
                    <a:lnB w="12240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StrategyFactory.sol + IStrategyFactory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999999"/>
                      </a:solidFill>
                      <a:prstDash val="solid"/>
                    </a:lnL>
                    <a:lnR w="12240">
                      <a:solidFill>
                        <a:srgbClr val="999999"/>
                      </a:solidFill>
                      <a:prstDash val="solid"/>
                    </a:lnR>
                    <a:lnT w="12240">
                      <a:solidFill>
                        <a:srgbClr val="999999"/>
                      </a:solidFill>
                      <a:prstDash val="solid"/>
                    </a:lnT>
                    <a:lnB w="12240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State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999999"/>
                      </a:solidFill>
                      <a:prstDash val="solid"/>
                    </a:lnL>
                    <a:lnR w="12240">
                      <a:solidFill>
                        <a:srgbClr val="999999"/>
                      </a:solidFill>
                      <a:prstDash val="solid"/>
                    </a:lnR>
                    <a:lnT w="12240">
                      <a:solidFill>
                        <a:srgbClr val="999999"/>
                      </a:solidFill>
                      <a:prstDash val="solid"/>
                    </a:lnT>
                    <a:lnB w="12240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Comportamental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999999"/>
                      </a:solidFill>
                      <a:prstDash val="solid"/>
                    </a:lnL>
                    <a:lnR w="12240">
                      <a:solidFill>
                        <a:srgbClr val="999999"/>
                      </a:solidFill>
                      <a:prstDash val="solid"/>
                    </a:lnR>
                    <a:lnT w="12240">
                      <a:solidFill>
                        <a:srgbClr val="999999"/>
                      </a:solidFill>
                      <a:prstDash val="solid"/>
                    </a:lnT>
                    <a:lnB w="12240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Validações duplicadas de estado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999999"/>
                      </a:solidFill>
                      <a:prstDash val="solid"/>
                    </a:lnL>
                    <a:lnR w="12240">
                      <a:solidFill>
                        <a:srgbClr val="999999"/>
                      </a:solidFill>
                      <a:prstDash val="solid"/>
                    </a:lnR>
                    <a:lnT w="12240">
                      <a:solidFill>
                        <a:srgbClr val="999999"/>
                      </a:solidFill>
                      <a:prstDash val="solid"/>
                    </a:lnT>
                    <a:lnB w="12240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LifecycleState.sol + estados concretos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999999"/>
                      </a:solidFill>
                      <a:prstDash val="solid"/>
                    </a:lnL>
                    <a:lnR w="12240">
                      <a:solidFill>
                        <a:srgbClr val="999999"/>
                      </a:solidFill>
                      <a:prstDash val="solid"/>
                    </a:lnR>
                    <a:lnT w="12240">
                      <a:solidFill>
                        <a:srgbClr val="999999"/>
                      </a:solidFill>
                      <a:prstDash val="solid"/>
                    </a:lnT>
                    <a:lnB w="12240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5" name="Google Shape;122;p17"/>
          <p:cNvSpPr/>
          <p:nvPr/>
        </p:nvSpPr>
        <p:spPr>
          <a:xfrm>
            <a:off x="411480" y="3918960"/>
            <a:ext cx="83206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1800" spc="-1" strike="noStrike">
                <a:solidFill>
                  <a:srgbClr val="000000"/>
                </a:solidFill>
                <a:latin typeface="Arial"/>
                <a:ea typeface="Arial"/>
              </a:rPr>
              <a:t>Princípios aplicados: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Arial"/>
              </a:rPr>
              <a:t> SOLID, baixo acoplamento, alta coesão e inversão de dependência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Google Shape;123;p17" descr="https://www.quixada.ufc.br/wp-content/Arquivos_Site/Brasao%20Vertical%20UFC%20Policromatico.png"/>
          <p:cNvPicPr/>
          <p:nvPr/>
        </p:nvPicPr>
        <p:blipFill>
          <a:blip r:embed="rId1"/>
          <a:stretch/>
        </p:blipFill>
        <p:spPr>
          <a:xfrm>
            <a:off x="8357760" y="118800"/>
            <a:ext cx="712800" cy="486000"/>
          </a:xfrm>
          <a:prstGeom prst="rect">
            <a:avLst/>
          </a:prstGeom>
          <a:ln w="0">
            <a:noFill/>
          </a:ln>
        </p:spPr>
      </p:pic>
      <p:pic>
        <p:nvPicPr>
          <p:cNvPr id="107" name="Google Shape;124;p17" descr="https://www.quixada.ufc.br/wp-content/Arquivos_Site/Logo%20Vertical%20UFC%20Quixada%20Policromatico.png"/>
          <p:cNvPicPr/>
          <p:nvPr/>
        </p:nvPicPr>
        <p:blipFill>
          <a:blip r:embed="rId2"/>
          <a:stretch/>
        </p:blipFill>
        <p:spPr>
          <a:xfrm>
            <a:off x="7498080" y="91440"/>
            <a:ext cx="822600" cy="689040"/>
          </a:xfrm>
          <a:prstGeom prst="rect">
            <a:avLst/>
          </a:prstGeom>
          <a:ln w="0">
            <a:noFill/>
          </a:ln>
        </p:spPr>
      </p:pic>
      <p:sp>
        <p:nvSpPr>
          <p:cNvPr id="108" name="footer-text941"/>
          <p:cNvSpPr/>
          <p:nvPr/>
        </p:nvSpPr>
        <p:spPr>
          <a:xfrm>
            <a:off x="137160" y="4809600"/>
            <a:ext cx="6949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Arial"/>
              </a:rPr>
              <a:t>QXD0068 - Reuso de Software - Francisco Josias da Silva Batista - 2026.2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footer-text942"/>
          <p:cNvSpPr/>
          <p:nvPr/>
        </p:nvSpPr>
        <p:spPr>
          <a:xfrm>
            <a:off x="7772400" y="4809600"/>
            <a:ext cx="1234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ct val="100000"/>
              </a:lnSpc>
            </a:pP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Arial"/>
              </a:rPr>
              <a:t>4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footer-band"/>
          <p:cNvSpPr/>
          <p:nvPr/>
        </p:nvSpPr>
        <p:spPr>
          <a:xfrm>
            <a:off x="0" y="4745880"/>
            <a:ext cx="9143640" cy="397440"/>
          </a:xfrm>
          <a:prstGeom prst="rect">
            <a:avLst/>
          </a:prstGeom>
          <a:solidFill>
            <a:srgbClr val="eeee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11" name="Google Shape;129;p18"/>
          <p:cNvSpPr/>
          <p:nvPr/>
        </p:nvSpPr>
        <p:spPr>
          <a:xfrm>
            <a:off x="365760" y="411480"/>
            <a:ext cx="6949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3200" spc="-1" strike="noStrike">
                <a:solidFill>
                  <a:srgbClr val="000000"/>
                </a:solidFill>
                <a:latin typeface="Arial"/>
                <a:ea typeface="Arial"/>
              </a:rPr>
              <a:t>Padrão 1: Facade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Google Shape;130;p18"/>
          <p:cNvSpPr/>
          <p:nvPr/>
        </p:nvSpPr>
        <p:spPr>
          <a:xfrm>
            <a:off x="259920" y="928440"/>
            <a:ext cx="8320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Arial"/>
                <a:ea typeface="Arial"/>
              </a:rPr>
              <a:t>Categoria: Estrutural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Google Shape;131;p18"/>
          <p:cNvSpPr/>
          <p:nvPr/>
        </p:nvSpPr>
        <p:spPr>
          <a:xfrm>
            <a:off x="250560" y="117288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Arial"/>
                <a:ea typeface="Arial"/>
              </a:rPr>
              <a:t>Problema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Google Shape;132;p18"/>
          <p:cNvSpPr/>
          <p:nvPr/>
        </p:nvSpPr>
        <p:spPr>
          <a:xfrm>
            <a:off x="250560" y="1428840"/>
            <a:ext cx="4114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  <a:ea typeface="Arial"/>
              </a:rPr>
              <a:t>2 transações: createProfile + createPool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  <a:ea typeface="Arial"/>
              </a:rPr>
              <a:t>Interação com múltiplos contratos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  <a:ea typeface="Arial"/>
              </a:rPr>
              <a:t>Complexidade e custo de gás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Google Shape;133;p18"/>
          <p:cNvSpPr/>
          <p:nvPr/>
        </p:nvSpPr>
        <p:spPr>
          <a:xfrm>
            <a:off x="4684320" y="115092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Arial"/>
                <a:ea typeface="Arial"/>
              </a:rPr>
              <a:t>Solução implementada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Google Shape;134;p18"/>
          <p:cNvSpPr/>
          <p:nvPr/>
        </p:nvSpPr>
        <p:spPr>
          <a:xfrm>
            <a:off x="4684320" y="1407240"/>
            <a:ext cx="4114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  <a:ea typeface="Arial"/>
              </a:rPr>
              <a:t>AlloStarterFacade orquestra a criação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  <a:ea typeface="Arial"/>
              </a:rPr>
              <a:t>Interface unificada de operações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  <a:ea typeface="Arial"/>
              </a:rPr>
              <a:t>De 2 transações para 1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Google Shape;135;p18"/>
          <p:cNvSpPr/>
          <p:nvPr/>
        </p:nvSpPr>
        <p:spPr>
          <a:xfrm>
            <a:off x="206280" y="2030040"/>
            <a:ext cx="4114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ANTES: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Google Shape;136;p18"/>
          <p:cNvSpPr/>
          <p:nvPr/>
        </p:nvSpPr>
        <p:spPr>
          <a:xfrm>
            <a:off x="4617720" y="2030040"/>
            <a:ext cx="4114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DEPOIS: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Google Shape;137;p18"/>
          <p:cNvSpPr/>
          <p:nvPr/>
        </p:nvSpPr>
        <p:spPr>
          <a:xfrm>
            <a:off x="322920" y="2286000"/>
            <a:ext cx="4114440" cy="23313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// Transação 1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bytes32 profileId = registry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  </a:t>
            </a: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.createProfile(_nonce, _members,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                 </a:t>
            </a: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_metadata.hash);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// Transação 2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uint256 poolId = allo.createPool(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  </a:t>
            </a: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profileId, _strategy, _strategyData,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  </a:t>
            </a: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_token, _amount);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Google Shape;138;p18"/>
          <p:cNvSpPr/>
          <p:nvPr/>
        </p:nvSpPr>
        <p:spPr>
          <a:xfrm>
            <a:off x="4617720" y="2295360"/>
            <a:ext cx="4114440" cy="23313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// 1 transação via Facade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uint256 poolId =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  </a:t>
            </a: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facade.initializeCampaign(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    </a:t>
            </a: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_nonce, _members, _metadata,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    </a:t>
            </a: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_strategy, _strategyData,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    </a:t>
            </a: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_token, _amount);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1" name="Google Shape;140;p18" descr="https://www.quixada.ufc.br/wp-content/Arquivos_Site/Brasao%20Vertical%20UFC%20Policromatico.png"/>
          <p:cNvPicPr/>
          <p:nvPr/>
        </p:nvPicPr>
        <p:blipFill>
          <a:blip r:embed="rId1"/>
          <a:stretch/>
        </p:blipFill>
        <p:spPr>
          <a:xfrm>
            <a:off x="8357760" y="118800"/>
            <a:ext cx="712800" cy="486000"/>
          </a:xfrm>
          <a:prstGeom prst="rect">
            <a:avLst/>
          </a:prstGeom>
          <a:ln w="0">
            <a:noFill/>
          </a:ln>
        </p:spPr>
      </p:pic>
      <p:pic>
        <p:nvPicPr>
          <p:cNvPr id="122" name="Google Shape;141;p18" descr="https://www.quixada.ufc.br/wp-content/Arquivos_Site/Logo%20Vertical%20UFC%20Quixada%20Policromatico.png"/>
          <p:cNvPicPr/>
          <p:nvPr/>
        </p:nvPicPr>
        <p:blipFill>
          <a:blip r:embed="rId2"/>
          <a:stretch/>
        </p:blipFill>
        <p:spPr>
          <a:xfrm>
            <a:off x="7498080" y="91440"/>
            <a:ext cx="822600" cy="689040"/>
          </a:xfrm>
          <a:prstGeom prst="rect">
            <a:avLst/>
          </a:prstGeom>
          <a:ln w="0">
            <a:noFill/>
          </a:ln>
        </p:spPr>
      </p:pic>
      <p:sp>
        <p:nvSpPr>
          <p:cNvPr id="123" name="footer-text951"/>
          <p:cNvSpPr/>
          <p:nvPr/>
        </p:nvSpPr>
        <p:spPr>
          <a:xfrm>
            <a:off x="137160" y="4809600"/>
            <a:ext cx="6949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Arial"/>
              </a:rPr>
              <a:t>QXD0068 - Reuso de Software - Francisco Josias da Silva Batista - 2026.2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footer-text952"/>
          <p:cNvSpPr/>
          <p:nvPr/>
        </p:nvSpPr>
        <p:spPr>
          <a:xfrm>
            <a:off x="7772400" y="4809600"/>
            <a:ext cx="1234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ct val="100000"/>
              </a:lnSpc>
            </a:pP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Arial"/>
              </a:rPr>
              <a:t>5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footer-band"/>
          <p:cNvSpPr/>
          <p:nvPr/>
        </p:nvSpPr>
        <p:spPr>
          <a:xfrm>
            <a:off x="0" y="4745880"/>
            <a:ext cx="9143640" cy="397440"/>
          </a:xfrm>
          <a:prstGeom prst="rect">
            <a:avLst/>
          </a:prstGeom>
          <a:solidFill>
            <a:srgbClr val="eeee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26" name="Google Shape;146;p19"/>
          <p:cNvSpPr/>
          <p:nvPr/>
        </p:nvSpPr>
        <p:spPr>
          <a:xfrm>
            <a:off x="365760" y="411480"/>
            <a:ext cx="6949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3200" spc="-1" strike="noStrike">
                <a:solidFill>
                  <a:srgbClr val="000000"/>
                </a:solidFill>
                <a:latin typeface="Arial"/>
                <a:ea typeface="Arial"/>
              </a:rPr>
              <a:t>Padrão 2: Strategy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Google Shape;147;p19"/>
          <p:cNvSpPr/>
          <p:nvPr/>
        </p:nvSpPr>
        <p:spPr>
          <a:xfrm>
            <a:off x="411480" y="996120"/>
            <a:ext cx="8320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Arial"/>
                <a:ea typeface="Arial"/>
              </a:rPr>
              <a:t>Categoria: Comportamental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Google Shape;148;p19"/>
          <p:cNvSpPr/>
          <p:nvPr/>
        </p:nvSpPr>
        <p:spPr>
          <a:xfrm>
            <a:off x="411480" y="120420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Arial"/>
                <a:ea typeface="Arial"/>
              </a:rPr>
              <a:t>Problema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Google Shape;149;p19"/>
          <p:cNvSpPr/>
          <p:nvPr/>
        </p:nvSpPr>
        <p:spPr>
          <a:xfrm>
            <a:off x="411480" y="1460160"/>
            <a:ext cx="4114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  <a:ea typeface="Arial"/>
              </a:rPr>
              <a:t>percentFee fixo em 20% (hardcoded)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  <a:ea typeface="Arial"/>
              </a:rPr>
              <a:t>Trocar o modelo exige editar o núcleo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  <a:ea typeface="Arial"/>
              </a:rPr>
              <a:t>Viola o Princípio Aberto/Fechado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Google Shape;150;p19"/>
          <p:cNvSpPr/>
          <p:nvPr/>
        </p:nvSpPr>
        <p:spPr>
          <a:xfrm>
            <a:off x="4617720" y="120420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Arial"/>
                <a:ea typeface="Arial"/>
              </a:rPr>
              <a:t>Solução implementada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Google Shape;151;p19"/>
          <p:cNvSpPr/>
          <p:nvPr/>
        </p:nvSpPr>
        <p:spPr>
          <a:xfrm>
            <a:off x="4617720" y="1460160"/>
            <a:ext cx="4114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  <a:ea typeface="Arial"/>
              </a:rPr>
              <a:t>IFeeStrategy com calculateFee()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  <a:ea typeface="Arial"/>
              </a:rPr>
              <a:t>FlatFeeStrategy: taxa fixa em %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  <a:ea typeface="Arial"/>
              </a:rPr>
              <a:t>Injeção via setter onlyOwner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Google Shape;152;p19"/>
          <p:cNvSpPr/>
          <p:nvPr/>
        </p:nvSpPr>
        <p:spPr>
          <a:xfrm>
            <a:off x="411480" y="2158200"/>
            <a:ext cx="4114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ANTES: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Google Shape;153;p19"/>
          <p:cNvSpPr/>
          <p:nvPr/>
        </p:nvSpPr>
        <p:spPr>
          <a:xfrm>
            <a:off x="4617720" y="2158200"/>
            <a:ext cx="4114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DEPOIS: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Google Shape;154;p19"/>
          <p:cNvSpPr/>
          <p:nvPr/>
        </p:nvSpPr>
        <p:spPr>
          <a:xfrm>
            <a:off x="411480" y="2414520"/>
            <a:ext cx="4114440" cy="22762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function _fundPool(...) internal {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  </a:t>
            </a: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uint256 feeAmount = 0;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  </a:t>
            </a: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if (percentFee &gt; 0) {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    </a:t>
            </a: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feeAmount =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      </a:t>
            </a: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(_amount * percentFee) / 1e18;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  </a:t>
            </a: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}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  </a:t>
            </a: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uint256 amountAfterFee =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    </a:t>
            </a: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_amount - feeAmount;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  </a:t>
            </a: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_amounts[_poolId] += amountAfterFee;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}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Google Shape;155;p19"/>
          <p:cNvSpPr/>
          <p:nvPr/>
        </p:nvSpPr>
        <p:spPr>
          <a:xfrm>
            <a:off x="4617720" y="2414520"/>
            <a:ext cx="4114440" cy="22762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interface IFeeStrategy {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  </a:t>
            </a: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function calculateFee(uint256 amount)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    </a:t>
            </a: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external view returns (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      </a:t>
            </a: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uint256 fee, uint256 net);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}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// Allo.sol: _fundPool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(uint256 fee, uint256 net) =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  </a:t>
            </a: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feeStrategy.calculateFee(_amount);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_amounts[_poolId] += net;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6" name="Google Shape;157;p19" descr="https://www.quixada.ufc.br/wp-content/Arquivos_Site/Brasao%20Vertical%20UFC%20Policromatico.png"/>
          <p:cNvPicPr/>
          <p:nvPr/>
        </p:nvPicPr>
        <p:blipFill>
          <a:blip r:embed="rId1"/>
          <a:stretch/>
        </p:blipFill>
        <p:spPr>
          <a:xfrm>
            <a:off x="8357760" y="118800"/>
            <a:ext cx="712800" cy="486000"/>
          </a:xfrm>
          <a:prstGeom prst="rect">
            <a:avLst/>
          </a:prstGeom>
          <a:ln w="0">
            <a:noFill/>
          </a:ln>
        </p:spPr>
      </p:pic>
      <p:pic>
        <p:nvPicPr>
          <p:cNvPr id="137" name="Google Shape;158;p19" descr="https://www.quixada.ufc.br/wp-content/Arquivos_Site/Logo%20Vertical%20UFC%20Quixada%20Policromatico.png"/>
          <p:cNvPicPr/>
          <p:nvPr/>
        </p:nvPicPr>
        <p:blipFill>
          <a:blip r:embed="rId2"/>
          <a:stretch/>
        </p:blipFill>
        <p:spPr>
          <a:xfrm>
            <a:off x="7498080" y="91440"/>
            <a:ext cx="822600" cy="689040"/>
          </a:xfrm>
          <a:prstGeom prst="rect">
            <a:avLst/>
          </a:prstGeom>
          <a:ln w="0">
            <a:noFill/>
          </a:ln>
        </p:spPr>
      </p:pic>
      <p:sp>
        <p:nvSpPr>
          <p:cNvPr id="138" name="footer-text961"/>
          <p:cNvSpPr/>
          <p:nvPr/>
        </p:nvSpPr>
        <p:spPr>
          <a:xfrm>
            <a:off x="137160" y="4809600"/>
            <a:ext cx="6949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Arial"/>
              </a:rPr>
              <a:t>QXD0068 - Reuso de Software - Francisco Josias da Silva Batista - 2026.2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footer-text962"/>
          <p:cNvSpPr/>
          <p:nvPr/>
        </p:nvSpPr>
        <p:spPr>
          <a:xfrm>
            <a:off x="7772400" y="4809600"/>
            <a:ext cx="1234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ct val="100000"/>
              </a:lnSpc>
            </a:pP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Arial"/>
              </a:rPr>
              <a:t>6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footer-band"/>
          <p:cNvSpPr/>
          <p:nvPr/>
        </p:nvSpPr>
        <p:spPr>
          <a:xfrm>
            <a:off x="0" y="4745880"/>
            <a:ext cx="9143640" cy="397440"/>
          </a:xfrm>
          <a:prstGeom prst="rect">
            <a:avLst/>
          </a:prstGeom>
          <a:solidFill>
            <a:srgbClr val="eeee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41" name="Google Shape;163;p20"/>
          <p:cNvSpPr/>
          <p:nvPr/>
        </p:nvSpPr>
        <p:spPr>
          <a:xfrm>
            <a:off x="365760" y="411480"/>
            <a:ext cx="6949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3300" spc="-1" strike="noStrike">
                <a:solidFill>
                  <a:srgbClr val="000000"/>
                </a:solidFill>
                <a:latin typeface="Arial"/>
                <a:ea typeface="Arial"/>
              </a:rPr>
              <a:t>Padrão 3: Factory Method</a:t>
            </a:r>
            <a:endParaRPr b="0" lang="pt-BR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Google Shape;164;p20"/>
          <p:cNvSpPr/>
          <p:nvPr/>
        </p:nvSpPr>
        <p:spPr>
          <a:xfrm>
            <a:off x="411480" y="955800"/>
            <a:ext cx="8320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Arial"/>
                <a:ea typeface="Arial"/>
              </a:rPr>
              <a:t>Categoria: Criacional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Google Shape;165;p20"/>
          <p:cNvSpPr/>
          <p:nvPr/>
        </p:nvSpPr>
        <p:spPr>
          <a:xfrm>
            <a:off x="411480" y="118944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Arial"/>
                <a:ea typeface="Arial"/>
              </a:rPr>
              <a:t>Problema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Google Shape;166;p20"/>
          <p:cNvSpPr/>
          <p:nvPr/>
        </p:nvSpPr>
        <p:spPr>
          <a:xfrm>
            <a:off x="411480" y="1445400"/>
            <a:ext cx="4114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  <a:ea typeface="Arial"/>
              </a:rPr>
              <a:t>Clonagem EIP-1167 dentro de Allo.sol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  <a:ea typeface="Arial"/>
              </a:rPr>
              <a:t>Bytecode maior no contrato principal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  <a:ea typeface="Arial"/>
              </a:rPr>
              <a:t>Viola a Responsabilidade Única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Google Shape;167;p20"/>
          <p:cNvSpPr/>
          <p:nvPr/>
        </p:nvSpPr>
        <p:spPr>
          <a:xfrm>
            <a:off x="4617720" y="118944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Arial"/>
                <a:ea typeface="Arial"/>
              </a:rPr>
              <a:t>Solução implementada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Google Shape;168;p20"/>
          <p:cNvSpPr/>
          <p:nvPr/>
        </p:nvSpPr>
        <p:spPr>
          <a:xfrm>
            <a:off x="4617720" y="1445400"/>
            <a:ext cx="4114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  <a:ea typeface="Arial"/>
              </a:rPr>
              <a:t>Interface IStrategyFactory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  <a:ea typeface="Arial"/>
              </a:rPr>
              <a:t>StrategyFactory.sol: só clonagem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  <a:ea typeface="Arial"/>
              </a:rPr>
              <a:t>Contador _nonces na fábrica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Google Shape;169;p20"/>
          <p:cNvSpPr/>
          <p:nvPr/>
        </p:nvSpPr>
        <p:spPr>
          <a:xfrm>
            <a:off x="411480" y="2132280"/>
            <a:ext cx="4114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ANTES: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Google Shape;170;p20"/>
          <p:cNvSpPr/>
          <p:nvPr/>
        </p:nvSpPr>
        <p:spPr>
          <a:xfrm>
            <a:off x="4617720" y="2132280"/>
            <a:ext cx="4114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DEPOIS: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Google Shape;171;p20"/>
          <p:cNvSpPr/>
          <p:nvPr/>
        </p:nvSpPr>
        <p:spPr>
          <a:xfrm>
            <a:off x="411480" y="2388240"/>
            <a:ext cx="4114440" cy="23022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function _createStrategyClone(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  </a:t>
            </a: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address s, bytes memory args)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  </a:t>
            </a: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internal returns (IStrategy) {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  </a:t>
            </a: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bytes32 salt = keccak256(abi.encode(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    </a:t>
            </a: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msg.sender, _nonces[msg.sender]++));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  </a:t>
            </a: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address c = Clones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    </a:t>
            </a: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.cloneDeterministic(s, salt);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  </a:t>
            </a: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IStrategy(c).initialize(args);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  </a:t>
            </a: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return IStrategy(c);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}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Google Shape;172;p20"/>
          <p:cNvSpPr/>
          <p:nvPr/>
        </p:nvSpPr>
        <p:spPr>
          <a:xfrm>
            <a:off x="4617720" y="2388240"/>
            <a:ext cx="4114440" cy="23022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interface IStrategyFactory {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  </a:t>
            </a: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function createStrategy(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    </a:t>
            </a: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address impl, bytes memory args)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    </a:t>
            </a: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external returns (IStrategy);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}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// Allo.sol: createPool(...)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IStrategy strategy = strategyFactory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  </a:t>
            </a: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.createStrategy(_strategy,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                  </a:t>
            </a: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_strategyData);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1" name="Google Shape;174;p20" descr="https://www.quixada.ufc.br/wp-content/Arquivos_Site/Brasao%20Vertical%20UFC%20Policromatico.png"/>
          <p:cNvPicPr/>
          <p:nvPr/>
        </p:nvPicPr>
        <p:blipFill>
          <a:blip r:embed="rId1"/>
          <a:stretch/>
        </p:blipFill>
        <p:spPr>
          <a:xfrm>
            <a:off x="8357760" y="118800"/>
            <a:ext cx="712800" cy="486000"/>
          </a:xfrm>
          <a:prstGeom prst="rect">
            <a:avLst/>
          </a:prstGeom>
          <a:ln w="0">
            <a:noFill/>
          </a:ln>
        </p:spPr>
      </p:pic>
      <p:pic>
        <p:nvPicPr>
          <p:cNvPr id="152" name="Google Shape;175;p20" descr="https://www.quixada.ufc.br/wp-content/Arquivos_Site/Logo%20Vertical%20UFC%20Quixada%20Policromatico.png"/>
          <p:cNvPicPr/>
          <p:nvPr/>
        </p:nvPicPr>
        <p:blipFill>
          <a:blip r:embed="rId2"/>
          <a:stretch/>
        </p:blipFill>
        <p:spPr>
          <a:xfrm>
            <a:off x="7498080" y="91440"/>
            <a:ext cx="822600" cy="689040"/>
          </a:xfrm>
          <a:prstGeom prst="rect">
            <a:avLst/>
          </a:prstGeom>
          <a:ln w="0">
            <a:noFill/>
          </a:ln>
        </p:spPr>
      </p:pic>
      <p:sp>
        <p:nvSpPr>
          <p:cNvPr id="153" name="footer-text971"/>
          <p:cNvSpPr/>
          <p:nvPr/>
        </p:nvSpPr>
        <p:spPr>
          <a:xfrm>
            <a:off x="137160" y="4809600"/>
            <a:ext cx="6949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Arial"/>
              </a:rPr>
              <a:t>QXD0068 - Reuso de Software - Francisco Josias da Silva Batista - 2026.2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footer-text972"/>
          <p:cNvSpPr/>
          <p:nvPr/>
        </p:nvSpPr>
        <p:spPr>
          <a:xfrm>
            <a:off x="7772400" y="4809600"/>
            <a:ext cx="1234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ct val="100000"/>
              </a:lnSpc>
            </a:pP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Arial"/>
              </a:rPr>
              <a:t>7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footer-band"/>
          <p:cNvSpPr/>
          <p:nvPr/>
        </p:nvSpPr>
        <p:spPr>
          <a:xfrm>
            <a:off x="0" y="4745880"/>
            <a:ext cx="9143640" cy="397440"/>
          </a:xfrm>
          <a:prstGeom prst="rect">
            <a:avLst/>
          </a:prstGeom>
          <a:solidFill>
            <a:srgbClr val="eeee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56" name="Google Shape;180;p21"/>
          <p:cNvSpPr/>
          <p:nvPr/>
        </p:nvSpPr>
        <p:spPr>
          <a:xfrm>
            <a:off x="365760" y="411480"/>
            <a:ext cx="6949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3200" spc="-1" strike="noStrike">
                <a:solidFill>
                  <a:srgbClr val="000000"/>
                </a:solidFill>
                <a:latin typeface="Arial"/>
                <a:ea typeface="Arial"/>
              </a:rPr>
              <a:t>Padrão 4: State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Google Shape;181;p21"/>
          <p:cNvSpPr/>
          <p:nvPr/>
        </p:nvSpPr>
        <p:spPr>
          <a:xfrm>
            <a:off x="411480" y="968760"/>
            <a:ext cx="8320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600" spc="-1" strike="noStrike">
                <a:solidFill>
                  <a:srgbClr val="000000"/>
                </a:solidFill>
                <a:latin typeface="Arial"/>
                <a:ea typeface="Arial"/>
              </a:rPr>
              <a:t>Categoria: Comportamental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Google Shape;182;p21"/>
          <p:cNvSpPr/>
          <p:nvPr/>
        </p:nvSpPr>
        <p:spPr>
          <a:xfrm>
            <a:off x="411480" y="120240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Arial"/>
                <a:ea typeface="Arial"/>
              </a:rPr>
              <a:t>Problema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Google Shape;183;p21"/>
          <p:cNvSpPr/>
          <p:nvPr/>
        </p:nvSpPr>
        <p:spPr>
          <a:xfrm>
            <a:off x="411480" y="1458360"/>
            <a:ext cx="4114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  <a:ea typeface="Arial"/>
              </a:rPr>
              <a:t>Vários timestamps em DirectGrantsLite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  <a:ea typeface="Arial"/>
              </a:rPr>
              <a:t>Checagens repetidas em cada método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  <a:ea typeface="Arial"/>
              </a:rPr>
              <a:t>Cadeias if/else if temporais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Google Shape;184;p21"/>
          <p:cNvSpPr/>
          <p:nvPr/>
        </p:nvSpPr>
        <p:spPr>
          <a:xfrm>
            <a:off x="4617720" y="120240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Arial"/>
                <a:ea typeface="Arial"/>
              </a:rPr>
              <a:t>Solução implementada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Google Shape;185;p21"/>
          <p:cNvSpPr/>
          <p:nvPr/>
        </p:nvSpPr>
        <p:spPr>
          <a:xfrm>
            <a:off x="4617720" y="1458360"/>
            <a:ext cx="4114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  <a:ea typeface="Arial"/>
              </a:rPr>
              <a:t>Enum PoolState (Open/Closed)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  <a:ea typeface="Arial"/>
              </a:rPr>
              <a:t>Classe abstrata LifecycleState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  <a:ea typeface="Arial"/>
              </a:rPr>
              <a:t>Um estado concreto por fase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Google Shape;186;p21"/>
          <p:cNvSpPr/>
          <p:nvPr/>
        </p:nvSpPr>
        <p:spPr>
          <a:xfrm>
            <a:off x="411480" y="2118240"/>
            <a:ext cx="4114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ANTES: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Google Shape;187;p21"/>
          <p:cNvSpPr/>
          <p:nvPr/>
        </p:nvSpPr>
        <p:spPr>
          <a:xfrm>
            <a:off x="4617720" y="2118240"/>
            <a:ext cx="4114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DEPOIS: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Google Shape;188;p21"/>
          <p:cNvSpPr/>
          <p:nvPr/>
        </p:nvSpPr>
        <p:spPr>
          <a:xfrm>
            <a:off x="411480" y="2374200"/>
            <a:ext cx="4114440" cy="2316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function _allocate(...) internal {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  </a:t>
            </a: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if (block.timestamp &lt; regStart)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    </a:t>
            </a: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revert REGISTRATION_NOT_STARTED();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  </a:t>
            </a: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if (block.timestamp &gt; regEnd)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    </a:t>
            </a: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revert REGISTRATION_ENDED();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  </a:t>
            </a: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if (block.timestamp &gt; allocEnd)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    </a:t>
            </a: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revert ALLOCATION_ENDED();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  </a:t>
            </a: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// as mesmas checagens se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  </a:t>
            </a: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// repetem em _distribute()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}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Google Shape;189;p21"/>
          <p:cNvSpPr/>
          <p:nvPr/>
        </p:nvSpPr>
        <p:spPr>
          <a:xfrm>
            <a:off x="4617720" y="2374200"/>
            <a:ext cx="4114440" cy="2316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enum PoolState {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  </a:t>
            </a: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RegistrationOpen, RegistrationClosed }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abstract contract LifecycleState {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  </a:t>
            </a: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function checkRegistration()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    </a:t>
            </a: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external view virtual;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  </a:t>
            </a: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// checkAllocation, checkDistribution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}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// _allocate() passa a delegar: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Roboto Mono"/>
                <a:ea typeface="Roboto Mono"/>
              </a:rPr>
              <a:t>_currentState().checkRegistration();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6" name="Google Shape;191;p21" descr="https://www.quixada.ufc.br/wp-content/Arquivos_Site/Brasao%20Vertical%20UFC%20Policromatico.png"/>
          <p:cNvPicPr/>
          <p:nvPr/>
        </p:nvPicPr>
        <p:blipFill>
          <a:blip r:embed="rId1"/>
          <a:stretch/>
        </p:blipFill>
        <p:spPr>
          <a:xfrm>
            <a:off x="8357760" y="118800"/>
            <a:ext cx="712800" cy="486000"/>
          </a:xfrm>
          <a:prstGeom prst="rect">
            <a:avLst/>
          </a:prstGeom>
          <a:ln w="0">
            <a:noFill/>
          </a:ln>
        </p:spPr>
      </p:pic>
      <p:pic>
        <p:nvPicPr>
          <p:cNvPr id="167" name="Google Shape;192;p21" descr="https://www.quixada.ufc.br/wp-content/Arquivos_Site/Logo%20Vertical%20UFC%20Quixada%20Policromatico.png"/>
          <p:cNvPicPr/>
          <p:nvPr/>
        </p:nvPicPr>
        <p:blipFill>
          <a:blip r:embed="rId2"/>
          <a:stretch/>
        </p:blipFill>
        <p:spPr>
          <a:xfrm>
            <a:off x="7498080" y="91440"/>
            <a:ext cx="822600" cy="689040"/>
          </a:xfrm>
          <a:prstGeom prst="rect">
            <a:avLst/>
          </a:prstGeom>
          <a:ln w="0">
            <a:noFill/>
          </a:ln>
        </p:spPr>
      </p:pic>
      <p:sp>
        <p:nvSpPr>
          <p:cNvPr id="168" name="footer-text981"/>
          <p:cNvSpPr/>
          <p:nvPr/>
        </p:nvSpPr>
        <p:spPr>
          <a:xfrm>
            <a:off x="137160" y="4809600"/>
            <a:ext cx="6949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Arial"/>
              </a:rPr>
              <a:t>QXD0068 - Reuso de Software - Francisco Josias da Silva Batista - 2026.2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footer-text982"/>
          <p:cNvSpPr/>
          <p:nvPr/>
        </p:nvSpPr>
        <p:spPr>
          <a:xfrm>
            <a:off x="7772400" y="4809600"/>
            <a:ext cx="1234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ct val="100000"/>
              </a:lnSpc>
            </a:pP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Arial"/>
              </a:rPr>
              <a:t>8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footer-band"/>
          <p:cNvSpPr/>
          <p:nvPr/>
        </p:nvSpPr>
        <p:spPr>
          <a:xfrm>
            <a:off x="0" y="4745880"/>
            <a:ext cx="9143640" cy="397440"/>
          </a:xfrm>
          <a:prstGeom prst="rect">
            <a:avLst/>
          </a:prstGeom>
          <a:solidFill>
            <a:srgbClr val="eeee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71" name="Google Shape;197;p22"/>
          <p:cNvSpPr/>
          <p:nvPr/>
        </p:nvSpPr>
        <p:spPr>
          <a:xfrm>
            <a:off x="365760" y="411480"/>
            <a:ext cx="6949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3200" spc="-1" strike="noStrike">
                <a:solidFill>
                  <a:srgbClr val="000000"/>
                </a:solidFill>
                <a:latin typeface="Arial"/>
                <a:ea typeface="Arial"/>
              </a:rPr>
              <a:t>Benefícios Arquiteturais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Google Shape;198;p22"/>
          <p:cNvSpPr/>
          <p:nvPr/>
        </p:nvSpPr>
        <p:spPr>
          <a:xfrm>
            <a:off x="411480" y="123696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Arial"/>
                <a:ea typeface="Arial"/>
              </a:rPr>
              <a:t>1. Reutilização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Google Shape;199;p22"/>
          <p:cNvSpPr/>
          <p:nvPr/>
        </p:nvSpPr>
        <p:spPr>
          <a:xfrm>
            <a:off x="411480" y="1511280"/>
            <a:ext cx="4114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  <a:ea typeface="Arial"/>
              </a:rPr>
              <a:t>Factory reutilizável em outros protocolos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  <a:ea typeface="Arial"/>
              </a:rPr>
              <a:t>Estratégias de taxas plugáveis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  <a:ea typeface="Arial"/>
              </a:rPr>
              <a:t>Estados independentes do negócio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Google Shape;200;p22"/>
          <p:cNvSpPr/>
          <p:nvPr/>
        </p:nvSpPr>
        <p:spPr>
          <a:xfrm>
            <a:off x="411480" y="242568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Arial"/>
                <a:ea typeface="Arial"/>
              </a:rPr>
              <a:t>2. Extensibilidade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Google Shape;201;p22"/>
          <p:cNvSpPr/>
          <p:nvPr/>
        </p:nvSpPr>
        <p:spPr>
          <a:xfrm>
            <a:off x="411480" y="2700000"/>
            <a:ext cx="4114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  <a:ea typeface="Arial"/>
              </a:rPr>
              <a:t>TieredFee/DynamicFee sem tocar no núcleo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  <a:ea typeface="Arial"/>
              </a:rPr>
              <a:t>Novos estados sem refatorar métodos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  <a:ea typeface="Arial"/>
              </a:rPr>
              <a:t>Novas fábricas: proxy, beacon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Google Shape;202;p22"/>
          <p:cNvSpPr/>
          <p:nvPr/>
        </p:nvSpPr>
        <p:spPr>
          <a:xfrm>
            <a:off x="411480" y="361440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Arial"/>
                <a:ea typeface="Arial"/>
              </a:rPr>
              <a:t>3. Manutenibilidade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Google Shape;203;p22"/>
          <p:cNvSpPr/>
          <p:nvPr/>
        </p:nvSpPr>
        <p:spPr>
          <a:xfrm>
            <a:off x="411480" y="3888720"/>
            <a:ext cx="4114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  <a:ea typeface="Arial"/>
              </a:rPr>
              <a:t>~30% menos duplicação de código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  <a:ea typeface="Arial"/>
              </a:rPr>
              <a:t>Menor complexidade ciclomática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  <a:ea typeface="Arial"/>
              </a:rPr>
              <a:t>Responsabilidades separadas (SRP)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Google Shape;204;p22"/>
          <p:cNvSpPr/>
          <p:nvPr/>
        </p:nvSpPr>
        <p:spPr>
          <a:xfrm>
            <a:off x="4630680" y="131400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Arial"/>
                <a:ea typeface="Arial"/>
              </a:rPr>
              <a:t>4. Conformidade com SOLID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Google Shape;205;p22"/>
          <p:cNvSpPr/>
          <p:nvPr/>
        </p:nvSpPr>
        <p:spPr>
          <a:xfrm>
            <a:off x="4630680" y="1588320"/>
            <a:ext cx="411444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b="1" lang="pt-BR" sz="1400" spc="-1" strike="noStrike">
                <a:solidFill>
                  <a:srgbClr val="000000"/>
                </a:solidFill>
                <a:latin typeface="Arial"/>
                <a:ea typeface="Arial"/>
              </a:rPr>
              <a:t>SRP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  <a:ea typeface="Arial"/>
              </a:rPr>
              <a:t>: uma responsabilidade por contrato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b="1" lang="pt-BR" sz="1400" spc="-1" strike="noStrike">
                <a:solidFill>
                  <a:srgbClr val="000000"/>
                </a:solidFill>
                <a:latin typeface="Arial"/>
                <a:ea typeface="Arial"/>
              </a:rPr>
              <a:t>OCP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  <a:ea typeface="Arial"/>
              </a:rPr>
              <a:t>: aberto para extensão, fechado para modificação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b="1" lang="pt-BR" sz="1400" spc="-1" strike="noStrike">
                <a:solidFill>
                  <a:srgbClr val="000000"/>
                </a:solidFill>
                <a:latin typeface="Arial"/>
                <a:ea typeface="Arial"/>
              </a:rPr>
              <a:t>LSP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  <a:ea typeface="Arial"/>
              </a:rPr>
              <a:t>: estados e estratégias intercambiáveis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b="1" lang="pt-BR" sz="1400" spc="-1" strike="noStrike">
                <a:solidFill>
                  <a:srgbClr val="000000"/>
                </a:solidFill>
                <a:latin typeface="Arial"/>
                <a:ea typeface="Arial"/>
              </a:rPr>
              <a:t>ISP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  <a:ea typeface="Arial"/>
              </a:rPr>
              <a:t>: interfaces granulares e específicas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b="1" lang="pt-BR" sz="1400" spc="-1" strike="noStrike">
                <a:solidFill>
                  <a:srgbClr val="000000"/>
                </a:solidFill>
                <a:latin typeface="Arial"/>
                <a:ea typeface="Arial"/>
              </a:rPr>
              <a:t>DIP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  <a:ea typeface="Arial"/>
              </a:rPr>
              <a:t>: dependência de interfaces, não de implementações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Google Shape;206;p22"/>
          <p:cNvSpPr/>
          <p:nvPr/>
        </p:nvSpPr>
        <p:spPr>
          <a:xfrm>
            <a:off x="4617720" y="361440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Arial"/>
                <a:ea typeface="Arial"/>
              </a:rPr>
              <a:t>5. Qualidade e Testes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Google Shape;207;p22"/>
          <p:cNvSpPr/>
          <p:nvPr/>
        </p:nvSpPr>
        <p:spPr>
          <a:xfrm>
            <a:off x="4617720" y="3888720"/>
            <a:ext cx="41144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  <a:ea typeface="Arial"/>
              </a:rPr>
              <a:t>1147 testes Foundry passando (100%)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  <a:ea typeface="Arial"/>
              </a:rPr>
              <a:t>100% de cobertura nos novos módulos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  <a:ea typeface="Arial"/>
              </a:rPr>
              <a:t>Zero regressões após a refatoração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2" name="Google Shape;209;p22" descr="https://www.quixada.ufc.br/wp-content/Arquivos_Site/Brasao%20Vertical%20UFC%20Policromatico.png"/>
          <p:cNvPicPr/>
          <p:nvPr/>
        </p:nvPicPr>
        <p:blipFill>
          <a:blip r:embed="rId1"/>
          <a:stretch/>
        </p:blipFill>
        <p:spPr>
          <a:xfrm>
            <a:off x="8357760" y="118800"/>
            <a:ext cx="712800" cy="486000"/>
          </a:xfrm>
          <a:prstGeom prst="rect">
            <a:avLst/>
          </a:prstGeom>
          <a:ln w="0">
            <a:noFill/>
          </a:ln>
        </p:spPr>
      </p:pic>
      <p:pic>
        <p:nvPicPr>
          <p:cNvPr id="183" name="Google Shape;210;p22" descr="https://www.quixada.ufc.br/wp-content/Arquivos_Site/Logo%20Vertical%20UFC%20Quixada%20Policromatico.png"/>
          <p:cNvPicPr/>
          <p:nvPr/>
        </p:nvPicPr>
        <p:blipFill>
          <a:blip r:embed="rId2"/>
          <a:stretch/>
        </p:blipFill>
        <p:spPr>
          <a:xfrm>
            <a:off x="7498080" y="91440"/>
            <a:ext cx="822600" cy="689040"/>
          </a:xfrm>
          <a:prstGeom prst="rect">
            <a:avLst/>
          </a:prstGeom>
          <a:ln w="0">
            <a:noFill/>
          </a:ln>
        </p:spPr>
      </p:pic>
      <p:sp>
        <p:nvSpPr>
          <p:cNvPr id="184" name="footer-text991"/>
          <p:cNvSpPr/>
          <p:nvPr/>
        </p:nvSpPr>
        <p:spPr>
          <a:xfrm>
            <a:off x="137160" y="4809600"/>
            <a:ext cx="6949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Arial"/>
              </a:rPr>
              <a:t>QXD0068 - Reuso de Software - Francisco Josias da Silva Batista - 2026.2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footer-text992"/>
          <p:cNvSpPr/>
          <p:nvPr/>
        </p:nvSpPr>
        <p:spPr>
          <a:xfrm>
            <a:off x="7772400" y="4809600"/>
            <a:ext cx="1234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ct val="100000"/>
              </a:lnSpc>
            </a:pP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Arial"/>
              </a:rPr>
              <a:t>9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footer-band"/>
          <p:cNvSpPr/>
          <p:nvPr/>
        </p:nvSpPr>
        <p:spPr>
          <a:xfrm>
            <a:off x="0" y="4745880"/>
            <a:ext cx="9143640" cy="397440"/>
          </a:xfrm>
          <a:prstGeom prst="rect">
            <a:avLst/>
          </a:prstGeom>
          <a:solidFill>
            <a:srgbClr val="eeee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87" name="Google Shape;215;p23"/>
          <p:cNvSpPr/>
          <p:nvPr/>
        </p:nvSpPr>
        <p:spPr>
          <a:xfrm>
            <a:off x="365760" y="411480"/>
            <a:ext cx="6949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3200" spc="-1" strike="noStrike">
                <a:solidFill>
                  <a:srgbClr val="000000"/>
                </a:solidFill>
                <a:latin typeface="Arial"/>
                <a:ea typeface="Arial"/>
              </a:rPr>
              <a:t>Resultados e Conclusão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88" name="Google Shape;216;p23"/>
          <p:cNvGraphicFramePr/>
          <p:nvPr/>
        </p:nvGraphicFramePr>
        <p:xfrm>
          <a:off x="424440" y="1005840"/>
          <a:ext cx="8320680" cy="2293920"/>
        </p:xfrm>
        <a:graphic>
          <a:graphicData uri="http://schemas.openxmlformats.org/drawingml/2006/table">
            <a:tbl>
              <a:tblPr/>
              <a:tblGrid>
                <a:gridCol w="2743200"/>
                <a:gridCol w="1737000"/>
                <a:gridCol w="1737000"/>
                <a:gridCol w="2102760"/>
              </a:tblGrid>
              <a:tr h="33012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Métrica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Antes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Depois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Melhoria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33012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Linhas em Allo.sol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999999"/>
                      </a:solidFill>
                      <a:prstDash val="solid"/>
                    </a:lnL>
                    <a:lnR w="12240">
                      <a:solidFill>
                        <a:srgbClr val="999999"/>
                      </a:solidFill>
                      <a:prstDash val="solid"/>
                    </a:lnR>
                    <a:lnT w="12240">
                      <a:solidFill>
                        <a:srgbClr val="999999"/>
                      </a:solidFill>
                      <a:prstDash val="solid"/>
                    </a:lnT>
                    <a:lnB w="12240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830+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999999"/>
                      </a:solidFill>
                      <a:prstDash val="solid"/>
                    </a:lnL>
                    <a:lnR w="12240">
                      <a:solidFill>
                        <a:srgbClr val="999999"/>
                      </a:solidFill>
                      <a:prstDash val="solid"/>
                    </a:lnR>
                    <a:lnT w="12240">
                      <a:solidFill>
                        <a:srgbClr val="999999"/>
                      </a:solidFill>
                      <a:prstDash val="solid"/>
                    </a:lnT>
                    <a:lnB w="12240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~650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999999"/>
                      </a:solidFill>
                      <a:prstDash val="solid"/>
                    </a:lnL>
                    <a:lnR w="12240">
                      <a:solidFill>
                        <a:srgbClr val="999999"/>
                      </a:solidFill>
                      <a:prstDash val="solid"/>
                    </a:lnR>
                    <a:lnT w="12240">
                      <a:solidFill>
                        <a:srgbClr val="999999"/>
                      </a:solidFill>
                      <a:prstDash val="solid"/>
                    </a:lnT>
                    <a:lnB w="12240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-22%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999999"/>
                      </a:solidFill>
                      <a:prstDash val="solid"/>
                    </a:lnL>
                    <a:lnR w="12240">
                      <a:solidFill>
                        <a:srgbClr val="999999"/>
                      </a:solidFill>
                      <a:prstDash val="solid"/>
                    </a:lnR>
                    <a:lnT w="12240">
                      <a:solidFill>
                        <a:srgbClr val="999999"/>
                      </a:solidFill>
                      <a:prstDash val="solid"/>
                    </a:lnT>
                    <a:lnB w="12240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</a:tr>
              <a:tr h="33012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Transações para criar pool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999999"/>
                      </a:solidFill>
                      <a:prstDash val="solid"/>
                    </a:lnL>
                    <a:lnR w="12240">
                      <a:solidFill>
                        <a:srgbClr val="999999"/>
                      </a:solidFill>
                      <a:prstDash val="solid"/>
                    </a:lnR>
                    <a:lnT w="12240">
                      <a:solidFill>
                        <a:srgbClr val="999999"/>
                      </a:solidFill>
                      <a:prstDash val="solid"/>
                    </a:lnT>
                    <a:lnB w="12240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999999"/>
                      </a:solidFill>
                      <a:prstDash val="solid"/>
                    </a:lnL>
                    <a:lnR w="12240">
                      <a:solidFill>
                        <a:srgbClr val="999999"/>
                      </a:solidFill>
                      <a:prstDash val="solid"/>
                    </a:lnR>
                    <a:lnT w="12240">
                      <a:solidFill>
                        <a:srgbClr val="999999"/>
                      </a:solidFill>
                      <a:prstDash val="solid"/>
                    </a:lnT>
                    <a:lnB w="12240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999999"/>
                      </a:solidFill>
                      <a:prstDash val="solid"/>
                    </a:lnL>
                    <a:lnR w="12240">
                      <a:solidFill>
                        <a:srgbClr val="999999"/>
                      </a:solidFill>
                      <a:prstDash val="solid"/>
                    </a:lnR>
                    <a:lnT w="12240">
                      <a:solidFill>
                        <a:srgbClr val="999999"/>
                      </a:solidFill>
                      <a:prstDash val="solid"/>
                    </a:lnT>
                    <a:lnB w="12240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-50%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999999"/>
                      </a:solidFill>
                      <a:prstDash val="solid"/>
                    </a:lnL>
                    <a:lnR w="12240">
                      <a:solidFill>
                        <a:srgbClr val="999999"/>
                      </a:solidFill>
                      <a:prstDash val="solid"/>
                    </a:lnR>
                    <a:lnT w="12240">
                      <a:solidFill>
                        <a:srgbClr val="999999"/>
                      </a:solidFill>
                      <a:prstDash val="solid"/>
                    </a:lnT>
                    <a:lnB w="12240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12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Modelos de taxas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999999"/>
                      </a:solidFill>
                      <a:prstDash val="solid"/>
                    </a:lnL>
                    <a:lnR w="12240">
                      <a:solidFill>
                        <a:srgbClr val="999999"/>
                      </a:solidFill>
                      <a:prstDash val="solid"/>
                    </a:lnR>
                    <a:lnT w="12240">
                      <a:solidFill>
                        <a:srgbClr val="999999"/>
                      </a:solidFill>
                      <a:prstDash val="solid"/>
                    </a:lnT>
                    <a:lnB w="12240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 (hardcoded)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999999"/>
                      </a:solidFill>
                      <a:prstDash val="solid"/>
                    </a:lnL>
                    <a:lnR w="12240">
                      <a:solidFill>
                        <a:srgbClr val="999999"/>
                      </a:solidFill>
                      <a:prstDash val="solid"/>
                    </a:lnR>
                    <a:lnT w="12240">
                      <a:solidFill>
                        <a:srgbClr val="999999"/>
                      </a:solidFill>
                      <a:prstDash val="solid"/>
                    </a:lnT>
                    <a:lnB w="12240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 (plugáveis)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999999"/>
                      </a:solidFill>
                      <a:prstDash val="solid"/>
                    </a:lnL>
                    <a:lnR w="12240">
                      <a:solidFill>
                        <a:srgbClr val="999999"/>
                      </a:solidFill>
                      <a:prstDash val="solid"/>
                    </a:lnR>
                    <a:lnT w="12240">
                      <a:solidFill>
                        <a:srgbClr val="999999"/>
                      </a:solidFill>
                      <a:prstDash val="solid"/>
                    </a:lnT>
                    <a:lnB w="12240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+∞ flexibilidade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999999"/>
                      </a:solidFill>
                      <a:prstDash val="solid"/>
                    </a:lnL>
                    <a:lnR w="12240">
                      <a:solidFill>
                        <a:srgbClr val="999999"/>
                      </a:solidFill>
                      <a:prstDash val="solid"/>
                    </a:lnR>
                    <a:lnT w="12240">
                      <a:solidFill>
                        <a:srgbClr val="999999"/>
                      </a:solidFill>
                      <a:prstDash val="solid"/>
                    </a:lnT>
                    <a:lnB w="12240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</a:tr>
              <a:tr h="33012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Validações duplicadas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999999"/>
                      </a:solidFill>
                      <a:prstDash val="solid"/>
                    </a:lnL>
                    <a:lnR w="12240">
                      <a:solidFill>
                        <a:srgbClr val="999999"/>
                      </a:solidFill>
                      <a:prstDash val="solid"/>
                    </a:lnR>
                    <a:lnT w="12240">
                      <a:solidFill>
                        <a:srgbClr val="999999"/>
                      </a:solidFill>
                      <a:prstDash val="solid"/>
                    </a:lnT>
                    <a:lnB w="12240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~40 linhas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999999"/>
                      </a:solidFill>
                      <a:prstDash val="solid"/>
                    </a:lnL>
                    <a:lnR w="12240">
                      <a:solidFill>
                        <a:srgbClr val="999999"/>
                      </a:solidFill>
                      <a:prstDash val="solid"/>
                    </a:lnR>
                    <a:lnT w="12240">
                      <a:solidFill>
                        <a:srgbClr val="999999"/>
                      </a:solidFill>
                      <a:prstDash val="solid"/>
                    </a:lnT>
                    <a:lnB w="12240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999999"/>
                      </a:solidFill>
                      <a:prstDash val="solid"/>
                    </a:lnL>
                    <a:lnR w="12240">
                      <a:solidFill>
                        <a:srgbClr val="999999"/>
                      </a:solidFill>
                      <a:prstDash val="solid"/>
                    </a:lnR>
                    <a:lnT w="12240">
                      <a:solidFill>
                        <a:srgbClr val="999999"/>
                      </a:solidFill>
                      <a:prstDash val="solid"/>
                    </a:lnT>
                    <a:lnB w="12240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-100%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999999"/>
                      </a:solidFill>
                      <a:prstDash val="solid"/>
                    </a:lnL>
                    <a:lnR w="12240">
                      <a:solidFill>
                        <a:srgbClr val="999999"/>
                      </a:solidFill>
                      <a:prstDash val="solid"/>
                    </a:lnR>
                    <a:lnT w="12240">
                      <a:solidFill>
                        <a:srgbClr val="999999"/>
                      </a:solidFill>
                      <a:prstDash val="solid"/>
                    </a:lnT>
                    <a:lnB w="12240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12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Testes automatizados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999999"/>
                      </a:solidFill>
                      <a:prstDash val="solid"/>
                    </a:lnL>
                    <a:lnR w="12240">
                      <a:solidFill>
                        <a:srgbClr val="999999"/>
                      </a:solidFill>
                      <a:prstDash val="solid"/>
                    </a:lnR>
                    <a:lnT w="12240">
                      <a:solidFill>
                        <a:srgbClr val="999999"/>
                      </a:solidFill>
                      <a:prstDash val="solid"/>
                    </a:lnT>
                    <a:lnB w="12240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1133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999999"/>
                      </a:solidFill>
                      <a:prstDash val="solid"/>
                    </a:lnL>
                    <a:lnR w="12240">
                      <a:solidFill>
                        <a:srgbClr val="999999"/>
                      </a:solidFill>
                      <a:prstDash val="solid"/>
                    </a:lnR>
                    <a:lnT w="12240">
                      <a:solidFill>
                        <a:srgbClr val="999999"/>
                      </a:solidFill>
                      <a:prstDash val="solid"/>
                    </a:lnT>
                    <a:lnB w="12240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1147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999999"/>
                      </a:solidFill>
                      <a:prstDash val="solid"/>
                    </a:lnL>
                    <a:lnR w="12240">
                      <a:solidFill>
                        <a:srgbClr val="999999"/>
                      </a:solidFill>
                      <a:prstDash val="solid"/>
                    </a:lnR>
                    <a:lnT w="12240">
                      <a:solidFill>
                        <a:srgbClr val="999999"/>
                      </a:solidFill>
                      <a:prstDash val="solid"/>
                    </a:lnT>
                    <a:lnB w="12240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+14 novos testes</a:t>
                      </a:r>
                      <a:endParaRPr b="0" lang="pt-BR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12240">
                      <a:solidFill>
                        <a:srgbClr val="999999"/>
                      </a:solidFill>
                      <a:prstDash val="solid"/>
                    </a:lnL>
                    <a:lnR w="12240">
                      <a:solidFill>
                        <a:srgbClr val="999999"/>
                      </a:solidFill>
                      <a:prstDash val="solid"/>
                    </a:lnR>
                    <a:lnT w="12240">
                      <a:solidFill>
                        <a:srgbClr val="999999"/>
                      </a:solidFill>
                      <a:prstDash val="solid"/>
                    </a:lnT>
                    <a:lnB w="12240">
                      <a:solidFill>
                        <a:srgbClr val="999999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89" name="Google Shape;217;p23"/>
          <p:cNvSpPr/>
          <p:nvPr/>
        </p:nvSpPr>
        <p:spPr>
          <a:xfrm>
            <a:off x="411480" y="329184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Arial"/>
                <a:ea typeface="Arial"/>
              </a:rPr>
              <a:t>Validação técnica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Google Shape;218;p23"/>
          <p:cNvSpPr/>
          <p:nvPr/>
        </p:nvSpPr>
        <p:spPr>
          <a:xfrm>
            <a:off x="411480" y="3566160"/>
            <a:ext cx="402300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Suíte completa: 1147 testes (Foundry)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32 testes unitários novos para os padrões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100% de cobertura nos novos contratos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Sem quebra de compatibilidade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Google Shape;219;p23"/>
          <p:cNvSpPr/>
          <p:nvPr/>
        </p:nvSpPr>
        <p:spPr>
          <a:xfrm>
            <a:off x="4617720" y="329184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Arial"/>
                <a:ea typeface="Arial"/>
              </a:rPr>
              <a:t>Conclusão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Google Shape;220;p23"/>
          <p:cNvSpPr/>
          <p:nvPr/>
        </p:nvSpPr>
        <p:spPr>
          <a:xfrm>
            <a:off x="4617720" y="3566160"/>
            <a:ext cx="411444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A refatoração demonstrou a aplicação prática dos padrões GoF em Solidity: arquitetura mais modular e coesa, flexibilidade para evoluir o protocolo, menor risco de manutenção e aderência aos princípios SOLID.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3" name="Google Shape;222;p23" descr="https://www.quixada.ufc.br/wp-content/Arquivos_Site/Brasao%20Vertical%20UFC%20Policromatico.png"/>
          <p:cNvPicPr/>
          <p:nvPr/>
        </p:nvPicPr>
        <p:blipFill>
          <a:blip r:embed="rId1"/>
          <a:stretch/>
        </p:blipFill>
        <p:spPr>
          <a:xfrm>
            <a:off x="8357760" y="118800"/>
            <a:ext cx="712800" cy="486000"/>
          </a:xfrm>
          <a:prstGeom prst="rect">
            <a:avLst/>
          </a:prstGeom>
          <a:ln w="0">
            <a:noFill/>
          </a:ln>
        </p:spPr>
      </p:pic>
      <p:pic>
        <p:nvPicPr>
          <p:cNvPr id="194" name="Google Shape;223;p23" descr="https://www.quixada.ufc.br/wp-content/Arquivos_Site/Logo%20Vertical%20UFC%20Quixada%20Policromatico.png"/>
          <p:cNvPicPr/>
          <p:nvPr/>
        </p:nvPicPr>
        <p:blipFill>
          <a:blip r:embed="rId2"/>
          <a:stretch/>
        </p:blipFill>
        <p:spPr>
          <a:xfrm>
            <a:off x="7498080" y="91440"/>
            <a:ext cx="822600" cy="689040"/>
          </a:xfrm>
          <a:prstGeom prst="rect">
            <a:avLst/>
          </a:prstGeom>
          <a:ln w="0">
            <a:noFill/>
          </a:ln>
        </p:spPr>
      </p:pic>
      <p:sp>
        <p:nvSpPr>
          <p:cNvPr id="195" name="footer-text1001"/>
          <p:cNvSpPr/>
          <p:nvPr/>
        </p:nvSpPr>
        <p:spPr>
          <a:xfrm>
            <a:off x="137160" y="4809600"/>
            <a:ext cx="6949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Arial"/>
              </a:rPr>
              <a:t>QXD0068 - Reuso de Software - Francisco Josias da Silva Batista - 2026.2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footer-text1002"/>
          <p:cNvSpPr/>
          <p:nvPr/>
        </p:nvSpPr>
        <p:spPr>
          <a:xfrm>
            <a:off x="7772400" y="4809600"/>
            <a:ext cx="1234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ct val="100000"/>
              </a:lnSpc>
            </a:pPr>
            <a:r>
              <a:rPr b="0" lang="pt-BR" sz="1000" spc="-1" strike="noStrike">
                <a:solidFill>
                  <a:srgbClr val="000000"/>
                </a:solidFill>
                <a:latin typeface="Arial"/>
                <a:ea typeface="Arial"/>
              </a:rPr>
              <a:t>10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faixa-cinza"/>
          <p:cNvSpPr/>
          <p:nvPr/>
        </p:nvSpPr>
        <p:spPr>
          <a:xfrm>
            <a:off x="0" y="0"/>
            <a:ext cx="9143640" cy="2633040"/>
          </a:xfrm>
          <a:prstGeom prst="rect">
            <a:avLst/>
          </a:prstGeom>
          <a:solidFill>
            <a:srgbClr val="eeee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98" name="final-titulo"/>
          <p:cNvSpPr/>
          <p:nvPr/>
        </p:nvSpPr>
        <p:spPr>
          <a:xfrm>
            <a:off x="499320" y="1044000"/>
            <a:ext cx="8320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4800" spc="-1" strike="noStrike">
                <a:solidFill>
                  <a:srgbClr val="000000"/>
                </a:solidFill>
                <a:latin typeface="Arial"/>
                <a:ea typeface="Arial"/>
              </a:rPr>
              <a:t>Muito Obrigado!</a:t>
            </a:r>
            <a:endParaRPr b="0" lang="pt-BR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final-sub"/>
          <p:cNvSpPr/>
          <p:nvPr/>
        </p:nvSpPr>
        <p:spPr>
          <a:xfrm>
            <a:off x="411480" y="1737360"/>
            <a:ext cx="8320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ctr">
            <a:noAutofit/>
          </a:bodyPr>
          <a:p>
            <a:pPr algn="ctr">
              <a:lnSpc>
                <a:spcPct val="100000"/>
              </a:lnSpc>
            </a:pP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final-ufc"/>
          <p:cNvSpPr/>
          <p:nvPr/>
        </p:nvSpPr>
        <p:spPr>
          <a:xfrm>
            <a:off x="411480" y="3200400"/>
            <a:ext cx="6400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</a:pPr>
            <a:r>
              <a:rPr b="1" lang="pt-BR" sz="1600" spc="-1" strike="noStrike">
                <a:solidFill>
                  <a:srgbClr val="000000"/>
                </a:solidFill>
                <a:latin typeface="Arial"/>
                <a:ea typeface="Arial"/>
              </a:rPr>
              <a:t>Universidade Federal do Ceará - </a:t>
            </a:r>
            <a:r>
              <a:rPr b="1" i="1" lang="pt-BR" sz="1600" spc="-1" strike="noStrike">
                <a:solidFill>
                  <a:srgbClr val="000000"/>
                </a:solidFill>
                <a:latin typeface="Arial"/>
                <a:ea typeface="Arial"/>
              </a:rPr>
              <a:t>Campus Quixadá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final-info"/>
          <p:cNvSpPr/>
          <p:nvPr/>
        </p:nvSpPr>
        <p:spPr>
          <a:xfrm>
            <a:off x="411480" y="3840480"/>
            <a:ext cx="64004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000000"/>
                </a:solidFill>
                <a:latin typeface="Arial"/>
                <a:ea typeface="Arial"/>
              </a:rPr>
              <a:t>Prof. Francisco Victor da Silva Pinheiro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  <a:ea typeface="Arial"/>
              </a:rPr>
              <a:t>Aluno: Francisco Josias da Silva Batista - Matrícula 542167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2" name="brasao-ufc" descr=""/>
          <p:cNvPicPr/>
          <p:nvPr/>
        </p:nvPicPr>
        <p:blipFill>
          <a:blip r:embed="rId1"/>
          <a:stretch/>
        </p:blipFill>
        <p:spPr>
          <a:xfrm>
            <a:off x="7589520" y="3108960"/>
            <a:ext cx="1279800" cy="872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pt-BR</dc:language>
  <cp:lastModifiedBy/>
  <dcterms:modified xsi:type="dcterms:W3CDTF">2026-10-13T10:22:31Z</dcterms:modified>
  <cp:revision>1</cp:revision>
  <dc:subject/>
  <dc:title/>
</cp:coreProperties>
</file>